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presents Mira, the AI-powered project intelligence assistant built as the capstone project for the Applied Agentic AI for PMs/TPMs course. Mira automates project planning, risk assessment, status reporting, and stakeholder communications for the ABCDE Ltd. AI Adoption Project at Nexora.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Nexora PMs spend 3 to 4 hours manually creating project plans, 1 to 2 hours on weekly status reports, and additional time on risk assessments and stakeholder comms. With multiple concurrent projects this adds up fast. The core design challenge was not just automation but grounding: every output had to be traceable to actual project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Mira handles all six capabilities from a single Telegram message. The system reads what you ask, figures out which sections to generate, and returns structured grounded output. Combined queries work too: you can ask for the plan and risks together and get both back in one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architecture is 8 nodes in a fully linear chain. The key insight that made everything work was embedding all project data directly in the system prompt rather than trying to pass it between nodes using expressions. This eliminated the expression resolution failures that plagued earlier versions. The native n8n OpenAI node handles the user message reliably where the generic HTTP Request node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version history tells the honest story of the build. v6 was a complete working system with the Switch node. v7 attempted parallel fan-out with Telegram but hit a merge deadlock. v8 tried the AI Agent with sub-workflows before finally landing on the single-call architecture. Each failure taught us something specific about n8n's behaviour on the Starter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14 baseline tests pass. The vague input tests (T2, T4, T6, T9, T13) confirm the hallucination guardrails are working: Mira asks for more information rather than inventing content. T10 confirms the status counts are exact: Done 5, In Progress 3, To Do 17, Total 25, Overdue 8. T12 and T14 confirm the Gmail integration sends properly formatted HTML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key demo moment. Three intents, one Telegram message, one structured response. This directly addresses the learning team feedback about combined queries. The 14-second response time is within acceptable range for a query this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model is straightforward. At $7.50 per PM per month, the total for 5 PMs is $37.50 per month. Against 75 to 100 hours of saved manual work per week, the ROI is clear from day one. The main optimisation opportunity is RAG to reduce the token cost per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Langfuse is connected as a single HTTP Request node at the end of every run. Connection required manually hardcoding the Base64 encoded authorization header because n8n's Basic Auth credential type did not reliably send the Authorization header on the Starter plan. The traces confirm the system is working as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complete. Phase 2 starts immediately with a two-PM pilot on live project data. Phase 3 rolls out to all five PMs. Phase 4 adds RAG, live API integrations, and multi-project support. The three immediate priorities before Phase 2 are credentials, sprint detection, and beginning the RAG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Mira is working, tested, and ready for production pilot. The journey through 8 versions and 5 architectural pivots is the honest engineering story that shows what it actually takes to build reliable AI systems on real platforms with real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731520" y="1371600"/>
            <a:ext cx="7680960" cy="146304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Mira</a:t>
            </a:r>
            <a:endParaRPr lang="en-US" sz="4000" dirty="0"/>
          </a:p>
        </p:txBody>
      </p:sp>
      <p:sp>
        <p:nvSpPr>
          <p:cNvPr id="3" name="Text 1"/>
          <p:cNvSpPr/>
          <p:nvPr/>
        </p:nvSpPr>
        <p:spPr>
          <a:xfrm>
            <a:off x="731520" y="3017520"/>
            <a:ext cx="7680960" cy="73152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AI-Powered Project Intelligence Assistant</a:t>
            </a:r>
            <a:endParaRPr lang="en-US" sz="1800" dirty="0"/>
          </a:p>
          <a:p>
            <a:pPr algn="l" indent="0" marL="0">
              <a:buNone/>
            </a:pPr>
            <a:r>
              <a:rPr lang="en-US" sz="1800" dirty="0">
                <a:solidFill>
                  <a:srgbClr val="CADCFC"/>
                </a:solidFill>
                <a:latin typeface="Calibri" pitchFamily="34" charset="0"/>
                <a:ea typeface="Calibri" pitchFamily="34" charset="-122"/>
                <a:cs typeface="Calibri" pitchFamily="34" charset="-120"/>
              </a:rPr>
              <a:t>Nexora Pvt. Ltd. · ABCDE Ltd. AI Adoption Project</a:t>
            </a:r>
            <a:endParaRPr lang="en-US" sz="1800" dirty="0"/>
          </a:p>
        </p:txBody>
      </p:sp>
      <p:sp>
        <p:nvSpPr>
          <p:cNvPr id="4" name="Shape 2"/>
          <p:cNvSpPr/>
          <p:nvPr/>
        </p:nvSpPr>
        <p:spPr>
          <a:xfrm>
            <a:off x="0" y="4663440"/>
            <a:ext cx="9144000" cy="480060"/>
          </a:xfrm>
          <a:prstGeom prst="rect">
            <a:avLst/>
          </a:prstGeom>
          <a:solidFill>
            <a:srgbClr val="02C39A"/>
          </a:solidFill>
          <a:ln/>
        </p:spPr>
      </p:sp>
      <p:sp>
        <p:nvSpPr>
          <p:cNvPr id="5" name="Text 3"/>
          <p:cNvSpPr/>
          <p:nvPr/>
        </p:nvSpPr>
        <p:spPr>
          <a:xfrm>
            <a:off x="274320" y="4681728"/>
            <a:ext cx="8595360" cy="438912"/>
          </a:xfrm>
          <a:prstGeom prst="rect">
            <a:avLst/>
          </a:prstGeom>
          <a:noFill/>
          <a:ln/>
        </p:spPr>
        <p:txBody>
          <a:bodyPr wrap="square" lIns="0" tIns="0" rIns="0" bIns="0" rtlCol="0" anchor="ctr"/>
          <a:lstStyle/>
          <a:p>
            <a:pPr algn="l" indent="0" marL="0">
              <a:buNone/>
            </a:pPr>
            <a:r>
              <a:rPr lang="en-US" sz="1200" dirty="0">
                <a:solidFill>
                  <a:srgbClr val="065A82"/>
                </a:solidFill>
                <a:latin typeface="Calibri" pitchFamily="34" charset="0"/>
                <a:ea typeface="Calibri" pitchFamily="34" charset="-122"/>
                <a:cs typeface="Calibri" pitchFamily="34" charset="-120"/>
              </a:rPr>
              <a:t>Nexora Pvt. Ltd.  |  Applied Agentic AI for PMs/TPMs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The Problem: Manual Overhead is Killing PM Productivity</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548640" y="1097280"/>
            <a:ext cx="1737360" cy="713232"/>
          </a:xfrm>
          <a:prstGeom prst="rect">
            <a:avLst/>
          </a:prstGeom>
          <a:noFill/>
          <a:ln/>
        </p:spPr>
        <p:txBody>
          <a:bodyPr wrap="square" lIns="0" tIns="0" rIns="0" bIns="0" rtlCol="0" anchor="ctr"/>
          <a:lstStyle/>
          <a:p>
            <a:pPr algn="ctr" indent="0" marL="0">
              <a:buNone/>
            </a:pPr>
            <a:r>
              <a:rPr lang="en-US" sz="2800" b="1" dirty="0">
                <a:solidFill>
                  <a:srgbClr val="F97316"/>
                </a:solidFill>
                <a:latin typeface="Calibri" pitchFamily="34" charset="0"/>
                <a:ea typeface="Calibri" pitchFamily="34" charset="-122"/>
                <a:cs typeface="Calibri" pitchFamily="34" charset="-120"/>
              </a:rPr>
              <a:t>3-4 hrs</a:t>
            </a:r>
            <a:endParaRPr lang="en-US" sz="2800" dirty="0"/>
          </a:p>
        </p:txBody>
      </p:sp>
      <p:sp>
        <p:nvSpPr>
          <p:cNvPr id="6" name="Text 4"/>
          <p:cNvSpPr/>
          <p:nvPr/>
        </p:nvSpPr>
        <p:spPr>
          <a:xfrm>
            <a:off x="54864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creating project plans</a:t>
            </a:r>
            <a:endParaRPr lang="en-US" sz="1100" dirty="0"/>
          </a:p>
        </p:txBody>
      </p:sp>
      <p:sp>
        <p:nvSpPr>
          <p:cNvPr id="7" name="Shape 5"/>
          <p:cNvSpPr/>
          <p:nvPr/>
        </p:nvSpPr>
        <p:spPr>
          <a:xfrm>
            <a:off x="256032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2651760" y="1097280"/>
            <a:ext cx="1737360" cy="713232"/>
          </a:xfrm>
          <a:prstGeom prst="rect">
            <a:avLst/>
          </a:prstGeom>
          <a:noFill/>
          <a:ln/>
        </p:spPr>
        <p:txBody>
          <a:bodyPr wrap="square" lIns="0" tIns="0" rIns="0" bIns="0" rtlCol="0" anchor="ctr"/>
          <a:lstStyle/>
          <a:p>
            <a:pPr algn="ctr" indent="0" marL="0">
              <a:buNone/>
            </a:pPr>
            <a:r>
              <a:rPr lang="en-US" sz="2800" b="1" dirty="0">
                <a:solidFill>
                  <a:srgbClr val="F97316"/>
                </a:solidFill>
                <a:latin typeface="Calibri" pitchFamily="34" charset="0"/>
                <a:ea typeface="Calibri" pitchFamily="34" charset="-122"/>
                <a:cs typeface="Calibri" pitchFamily="34" charset="-120"/>
              </a:rPr>
              <a:t>1-2 hrs</a:t>
            </a:r>
            <a:endParaRPr lang="en-US" sz="2800" dirty="0"/>
          </a:p>
        </p:txBody>
      </p:sp>
      <p:sp>
        <p:nvSpPr>
          <p:cNvPr id="9" name="Text 7"/>
          <p:cNvSpPr/>
          <p:nvPr/>
        </p:nvSpPr>
        <p:spPr>
          <a:xfrm>
            <a:off x="265176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compiling status reports</a:t>
            </a:r>
            <a:endParaRPr lang="en-US" sz="1100" dirty="0"/>
          </a:p>
        </p:txBody>
      </p:sp>
      <p:sp>
        <p:nvSpPr>
          <p:cNvPr id="10" name="Shape 8"/>
          <p:cNvSpPr/>
          <p:nvPr/>
        </p:nvSpPr>
        <p:spPr>
          <a:xfrm>
            <a:off x="466344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4754880" y="1097280"/>
            <a:ext cx="1737360" cy="713232"/>
          </a:xfrm>
          <a:prstGeom prst="rect">
            <a:avLst/>
          </a:prstGeom>
          <a:noFill/>
          <a:ln/>
        </p:spPr>
        <p:txBody>
          <a:bodyPr wrap="square" lIns="0" tIns="0" rIns="0" bIns="0" rtlCol="0" anchor="ctr"/>
          <a:lstStyle/>
          <a:p>
            <a:pPr algn="ctr" indent="0" marL="0">
              <a:buNone/>
            </a:pPr>
            <a:r>
              <a:rPr lang="en-US" sz="2800" b="1" dirty="0">
                <a:solidFill>
                  <a:srgbClr val="F97316"/>
                </a:solidFill>
                <a:latin typeface="Calibri" pitchFamily="34" charset="0"/>
                <a:ea typeface="Calibri" pitchFamily="34" charset="-122"/>
                <a:cs typeface="Calibri" pitchFamily="34" charset="-120"/>
              </a:rPr>
              <a:t>No</a:t>
            </a:r>
            <a:endParaRPr lang="en-US" sz="2800" dirty="0"/>
          </a:p>
          <a:p>
            <a:pPr algn="ctr" indent="0" marL="0">
              <a:buNone/>
            </a:pPr>
            <a:r>
              <a:rPr lang="en-US" sz="2800" b="1" dirty="0">
                <a:solidFill>
                  <a:srgbClr val="F97316"/>
                </a:solidFill>
                <a:latin typeface="Calibri" pitchFamily="34" charset="0"/>
                <a:ea typeface="Calibri" pitchFamily="34" charset="-122"/>
                <a:cs typeface="Calibri" pitchFamily="34" charset="-120"/>
              </a:rPr>
              <a:t>Standard</a:t>
            </a:r>
            <a:endParaRPr lang="en-US" sz="2800" dirty="0"/>
          </a:p>
        </p:txBody>
      </p:sp>
      <p:sp>
        <p:nvSpPr>
          <p:cNvPr id="12" name="Text 10"/>
          <p:cNvSpPr/>
          <p:nvPr/>
        </p:nvSpPr>
        <p:spPr>
          <a:xfrm>
            <a:off x="475488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risk assessments</a:t>
            </a:r>
            <a:endParaRPr lang="en-US" sz="1100" dirty="0"/>
          </a:p>
        </p:txBody>
      </p:sp>
      <p:sp>
        <p:nvSpPr>
          <p:cNvPr id="13" name="Shape 11"/>
          <p:cNvSpPr/>
          <p:nvPr/>
        </p:nvSpPr>
        <p:spPr>
          <a:xfrm>
            <a:off x="676656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4" name="Text 12"/>
          <p:cNvSpPr/>
          <p:nvPr/>
        </p:nvSpPr>
        <p:spPr>
          <a:xfrm>
            <a:off x="6858000" y="1097280"/>
            <a:ext cx="1737360" cy="713232"/>
          </a:xfrm>
          <a:prstGeom prst="rect">
            <a:avLst/>
          </a:prstGeom>
          <a:noFill/>
          <a:ln/>
        </p:spPr>
        <p:txBody>
          <a:bodyPr wrap="square" lIns="0" tIns="0" rIns="0" bIns="0" rtlCol="0" anchor="ctr"/>
          <a:lstStyle/>
          <a:p>
            <a:pPr algn="ctr" indent="0" marL="0">
              <a:buNone/>
            </a:pPr>
            <a:r>
              <a:rPr lang="en-US" sz="2800" b="1" dirty="0">
                <a:solidFill>
                  <a:srgbClr val="F97316"/>
                </a:solidFill>
                <a:latin typeface="Calibri" pitchFamily="34" charset="0"/>
                <a:ea typeface="Calibri" pitchFamily="34" charset="-122"/>
                <a:cs typeface="Calibri" pitchFamily="34" charset="-120"/>
              </a:rPr>
              <a:t>Too</a:t>
            </a:r>
            <a:endParaRPr lang="en-US" sz="2800" dirty="0"/>
          </a:p>
          <a:p>
            <a:pPr algn="ctr" indent="0" marL="0">
              <a:buNone/>
            </a:pPr>
            <a:r>
              <a:rPr lang="en-US" sz="2800" b="1" dirty="0">
                <a:solidFill>
                  <a:srgbClr val="F97316"/>
                </a:solidFill>
                <a:latin typeface="Calibri" pitchFamily="34" charset="0"/>
                <a:ea typeface="Calibri" pitchFamily="34" charset="-122"/>
                <a:cs typeface="Calibri" pitchFamily="34" charset="-120"/>
              </a:rPr>
              <a:t>Late</a:t>
            </a:r>
            <a:endParaRPr lang="en-US" sz="2800" dirty="0"/>
          </a:p>
        </p:txBody>
      </p:sp>
      <p:sp>
        <p:nvSpPr>
          <p:cNvPr id="15" name="Text 13"/>
          <p:cNvSpPr/>
          <p:nvPr/>
        </p:nvSpPr>
        <p:spPr>
          <a:xfrm>
            <a:off x="685800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milestone discovery</a:t>
            </a:r>
            <a:endParaRPr lang="en-US" sz="1100" dirty="0"/>
          </a:p>
        </p:txBody>
      </p:sp>
      <p:sp>
        <p:nvSpPr>
          <p:cNvPr id="16" name="Text 14"/>
          <p:cNvSpPr/>
          <p:nvPr/>
        </p:nvSpPr>
        <p:spPr>
          <a:xfrm>
            <a:off x="457200" y="2651760"/>
            <a:ext cx="8229600" cy="502920"/>
          </a:xfrm>
          <a:prstGeom prst="rect">
            <a:avLst/>
          </a:prstGeom>
          <a:noFill/>
          <a:ln/>
        </p:spPr>
        <p:txBody>
          <a:bodyPr wrap="square" rtlCol="0" anchor="ctr"/>
          <a:lstStyle/>
          <a:p>
            <a:pPr algn="l" indent="0" marL="0">
              <a:buNone/>
            </a:pPr>
            <a:r>
              <a:rPr lang="en-US" sz="1400" dirty="0">
                <a:solidFill>
                  <a:srgbClr val="1E293B"/>
                </a:solidFill>
                <a:latin typeface="Calibri" pitchFamily="34" charset="0"/>
                <a:ea typeface="Calibri" pitchFamily="34" charset="-122"/>
                <a:cs typeface="Calibri" pitchFamily="34" charset="-120"/>
              </a:rPr>
              <a:t>PMs at Nexora manage 3 to 5 concurrent client projects. Every hour spent on manual reporting is an hour not spent on strategic work.</a:t>
            </a:r>
            <a:endParaRPr lang="en-US" sz="1400" dirty="0"/>
          </a:p>
        </p:txBody>
      </p:sp>
      <p:sp>
        <p:nvSpPr>
          <p:cNvPr id="17" name="Shape 15"/>
          <p:cNvSpPr/>
          <p:nvPr/>
        </p:nvSpPr>
        <p:spPr>
          <a:xfrm>
            <a:off x="457200" y="3246120"/>
            <a:ext cx="8229600" cy="1463040"/>
          </a:xfrm>
          <a:prstGeom prst="roundRect">
            <a:avLst>
              <a:gd name="adj" fmla="val 6250"/>
            </a:avLst>
          </a:prstGeom>
          <a:solidFill>
            <a:srgbClr val="E8F4F8"/>
          </a:solidFill>
          <a:ln/>
        </p:spPr>
      </p:sp>
      <p:sp>
        <p:nvSpPr>
          <p:cNvPr id="18" name="Text 16"/>
          <p:cNvSpPr/>
          <p:nvPr/>
        </p:nvSpPr>
        <p:spPr>
          <a:xfrm>
            <a:off x="640080" y="3337560"/>
            <a:ext cx="7863840" cy="1280160"/>
          </a:xfrm>
          <a:prstGeom prst="rect">
            <a:avLst/>
          </a:prstGeom>
          <a:noFill/>
          <a:ln/>
        </p:spPr>
        <p:txBody>
          <a:bodyPr wrap="square" rtlCol="0" anchor="ctr"/>
          <a:lstStyle/>
          <a:p>
            <a:pPr algn="l" indent="0" marL="0">
              <a:buNone/>
            </a:pPr>
            <a:r>
              <a:rPr lang="en-US" sz="1400" i="1" dirty="0">
                <a:solidFill>
                  <a:srgbClr val="065A82"/>
                </a:solidFill>
                <a:latin typeface="Calibri" pitchFamily="34" charset="0"/>
                <a:ea typeface="Calibri" pitchFamily="34" charset="-122"/>
                <a:cs typeface="Calibri" pitchFamily="34" charset="-120"/>
              </a:rPr>
              <a:t>The biggest risk is not just wasted time. It is inconsistency and hallucination.</a:t>
            </a:r>
            <a:endParaRPr lang="en-US" sz="1400" dirty="0"/>
          </a:p>
          <a:p>
            <a:pPr algn="l" indent="0" marL="0">
              <a:buNone/>
            </a:pPr>
            <a:r>
              <a:rPr lang="en-US" sz="1400" i="1" dirty="0">
                <a:solidFill>
                  <a:srgbClr val="065A82"/>
                </a:solidFill>
                <a:latin typeface="Calibri" pitchFamily="34" charset="0"/>
                <a:ea typeface="Calibri" pitchFamily="34" charset="-122"/>
                <a:cs typeface="Calibri" pitchFamily="34" charset="-120"/>
              </a:rPr>
              <a:t>An AI that invents milestones or fabricates task statuses would actively harm decision-making.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731520"/>
            <a:ext cx="1828800" cy="1828800"/>
          </a:xfrm>
          <a:prstGeom prst="rect">
            <a:avLst/>
          </a:prstGeom>
          <a:noFill/>
          <a:ln/>
        </p:spPr>
        <p:txBody>
          <a:bodyPr wrap="square" rtlCol="0" anchor="t"/>
          <a:lstStyle/>
          <a:p>
            <a:pPr algn="l" indent="0" marL="0">
              <a:buNone/>
            </a:pPr>
            <a:r>
              <a:rPr lang="en-US" sz="9600" b="1" dirty="0">
                <a:solidFill>
                  <a:srgbClr val="CADCFC">
                    <a:alpha val="70000"/>
                  </a:srgbClr>
                </a:solidFill>
                <a:latin typeface="Calibri" pitchFamily="34" charset="0"/>
                <a:ea typeface="Calibri" pitchFamily="34" charset="-122"/>
                <a:cs typeface="Calibri" pitchFamily="34" charset="-120"/>
              </a:rPr>
              <a:t>01</a:t>
            </a:r>
            <a:endParaRPr lang="en-US" sz="9600" dirty="0"/>
          </a:p>
        </p:txBody>
      </p:sp>
      <p:sp>
        <p:nvSpPr>
          <p:cNvPr id="3" name="Text 1"/>
          <p:cNvSpPr/>
          <p:nvPr/>
        </p:nvSpPr>
        <p:spPr>
          <a:xfrm>
            <a:off x="731520" y="2194560"/>
            <a:ext cx="7680960" cy="10972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What We Built</a:t>
            </a:r>
            <a:endParaRPr lang="en-US" sz="3600" dirty="0"/>
          </a:p>
        </p:txBody>
      </p:sp>
      <p:sp>
        <p:nvSpPr>
          <p:cNvPr id="4" name="Text 2"/>
          <p:cNvSpPr/>
          <p:nvPr/>
        </p:nvSpPr>
        <p:spPr>
          <a:xfrm>
            <a:off x="731520" y="3383280"/>
            <a:ext cx="7680960" cy="6400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Mira: Six capabilities. One Telegram message. Seconds not hours.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Six Capabilities. One Natural Language Interface.</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914400"/>
            <a:ext cx="2606040" cy="1783080"/>
          </a:xfrm>
          <a:prstGeom prst="roundRect">
            <a:avLst>
              <a:gd name="adj" fmla="val 5128"/>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621792" y="102412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Project Plan</a:t>
            </a:r>
            <a:endParaRPr lang="en-US" sz="1300" dirty="0"/>
          </a:p>
        </p:txBody>
      </p:sp>
      <p:sp>
        <p:nvSpPr>
          <p:cNvPr id="6" name="Text 4"/>
          <p:cNvSpPr/>
          <p:nvPr/>
        </p:nvSpPr>
        <p:spPr>
          <a:xfrm>
            <a:off x="621792" y="138988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All 8 phases, milestones,</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and success criteria</a:t>
            </a:r>
            <a:endParaRPr lang="en-US" sz="1200" dirty="0"/>
          </a:p>
        </p:txBody>
      </p:sp>
      <p:sp>
        <p:nvSpPr>
          <p:cNvPr id="7" name="Shape 5"/>
          <p:cNvSpPr/>
          <p:nvPr/>
        </p:nvSpPr>
        <p:spPr>
          <a:xfrm>
            <a:off x="3246120" y="914400"/>
            <a:ext cx="2606040" cy="1783080"/>
          </a:xfrm>
          <a:prstGeom prst="roundRect">
            <a:avLst>
              <a:gd name="adj" fmla="val 5128"/>
            </a:avLst>
          </a:prstGeom>
          <a:solidFill>
            <a:srgbClr val="E8F4F8"/>
          </a:solidFill>
          <a:ln/>
          <a:effectLst>
            <a:outerShdw sx="100000" sy="100000" kx="0" ky="0" algn="bl" rotWithShape="0" blurRad="101600" dist="25400" dir="2700000">
              <a:srgbClr val="000000">
                <a:alpha val="10000"/>
              </a:srgbClr>
            </a:outerShdw>
          </a:effectLst>
        </p:spPr>
      </p:sp>
      <p:sp>
        <p:nvSpPr>
          <p:cNvPr id="8" name="Text 6"/>
          <p:cNvSpPr/>
          <p:nvPr/>
        </p:nvSpPr>
        <p:spPr>
          <a:xfrm>
            <a:off x="3410712" y="102412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Risk Assessment</a:t>
            </a:r>
            <a:endParaRPr lang="en-US" sz="1300" dirty="0"/>
          </a:p>
        </p:txBody>
      </p:sp>
      <p:sp>
        <p:nvSpPr>
          <p:cNvPr id="9" name="Text 7"/>
          <p:cNvSpPr/>
          <p:nvPr/>
        </p:nvSpPr>
        <p:spPr>
          <a:xfrm>
            <a:off x="3410712" y="138988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All 10 risks with</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impact and mitigation</a:t>
            </a:r>
            <a:endParaRPr lang="en-US" sz="1200" dirty="0"/>
          </a:p>
        </p:txBody>
      </p:sp>
      <p:sp>
        <p:nvSpPr>
          <p:cNvPr id="10" name="Shape 8"/>
          <p:cNvSpPr/>
          <p:nvPr/>
        </p:nvSpPr>
        <p:spPr>
          <a:xfrm>
            <a:off x="6035040" y="914400"/>
            <a:ext cx="2606040" cy="1783080"/>
          </a:xfrm>
          <a:prstGeom prst="roundRect">
            <a:avLst>
              <a:gd name="adj" fmla="val 5128"/>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6199632" y="102412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Status Report</a:t>
            </a:r>
            <a:endParaRPr lang="en-US" sz="1300" dirty="0"/>
          </a:p>
        </p:txBody>
      </p:sp>
      <p:sp>
        <p:nvSpPr>
          <p:cNvPr id="12" name="Text 10"/>
          <p:cNvSpPr/>
          <p:nvPr/>
        </p:nvSpPr>
        <p:spPr>
          <a:xfrm>
            <a:off x="6199632" y="138988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Verified task counts,</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in-progress, overdue</a:t>
            </a:r>
            <a:endParaRPr lang="en-US" sz="1200" dirty="0"/>
          </a:p>
        </p:txBody>
      </p:sp>
      <p:sp>
        <p:nvSpPr>
          <p:cNvPr id="13" name="Shape 11"/>
          <p:cNvSpPr/>
          <p:nvPr/>
        </p:nvSpPr>
        <p:spPr>
          <a:xfrm>
            <a:off x="457200" y="2880360"/>
            <a:ext cx="2606040" cy="1783080"/>
          </a:xfrm>
          <a:prstGeom prst="roundRect">
            <a:avLst>
              <a:gd name="adj" fmla="val 5128"/>
            </a:avLst>
          </a:prstGeom>
          <a:solidFill>
            <a:srgbClr val="FFFFFF"/>
          </a:solidFill>
          <a:ln/>
          <a:effectLst>
            <a:outerShdw sx="100000" sy="100000" kx="0" ky="0" algn="bl" rotWithShape="0" blurRad="101600" dist="25400" dir="2700000">
              <a:srgbClr val="000000">
                <a:alpha val="10000"/>
              </a:srgbClr>
            </a:outerShdw>
          </a:effectLst>
        </p:spPr>
      </p:sp>
      <p:sp>
        <p:nvSpPr>
          <p:cNvPr id="14" name="Text 12"/>
          <p:cNvSpPr/>
          <p:nvPr/>
        </p:nvSpPr>
        <p:spPr>
          <a:xfrm>
            <a:off x="621792" y="299008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Milestone Tracking</a:t>
            </a:r>
            <a:endParaRPr lang="en-US" sz="1300" dirty="0"/>
          </a:p>
        </p:txBody>
      </p:sp>
      <p:sp>
        <p:nvSpPr>
          <p:cNvPr id="15" name="Text 13"/>
          <p:cNvSpPr/>
          <p:nvPr/>
        </p:nvSpPr>
        <p:spPr>
          <a:xfrm>
            <a:off x="621792" y="335584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Current phase and</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next phase alerts</a:t>
            </a:r>
            <a:endParaRPr lang="en-US" sz="1200" dirty="0"/>
          </a:p>
        </p:txBody>
      </p:sp>
      <p:sp>
        <p:nvSpPr>
          <p:cNvPr id="16" name="Shape 14"/>
          <p:cNvSpPr/>
          <p:nvPr/>
        </p:nvSpPr>
        <p:spPr>
          <a:xfrm>
            <a:off x="3246120" y="2880360"/>
            <a:ext cx="2606040" cy="1783080"/>
          </a:xfrm>
          <a:prstGeom prst="roundRect">
            <a:avLst>
              <a:gd name="adj" fmla="val 5128"/>
            </a:avLst>
          </a:prstGeom>
          <a:solidFill>
            <a:srgbClr val="E8F4F8"/>
          </a:solidFill>
          <a:ln/>
          <a:effectLst>
            <a:outerShdw sx="100000" sy="100000" kx="0" ky="0" algn="bl" rotWithShape="0" blurRad="101600" dist="25400" dir="2700000">
              <a:srgbClr val="000000">
                <a:alpha val="10000"/>
              </a:srgbClr>
            </a:outerShdw>
          </a:effectLst>
        </p:spPr>
      </p:sp>
      <p:sp>
        <p:nvSpPr>
          <p:cNvPr id="17" name="Text 15"/>
          <p:cNvSpPr/>
          <p:nvPr/>
        </p:nvSpPr>
        <p:spPr>
          <a:xfrm>
            <a:off x="3410712" y="299008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Stakeholder Email</a:t>
            </a:r>
            <a:endParaRPr lang="en-US" sz="1300" dirty="0"/>
          </a:p>
        </p:txBody>
      </p:sp>
      <p:sp>
        <p:nvSpPr>
          <p:cNvPr id="18" name="Text 16"/>
          <p:cNvSpPr/>
          <p:nvPr/>
        </p:nvSpPr>
        <p:spPr>
          <a:xfrm>
            <a:off x="3410712" y="335584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Executive updates</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for Sprint 2 and 3</a:t>
            </a:r>
            <a:endParaRPr lang="en-US" sz="1200" dirty="0"/>
          </a:p>
        </p:txBody>
      </p:sp>
      <p:sp>
        <p:nvSpPr>
          <p:cNvPr id="19" name="Shape 17"/>
          <p:cNvSpPr/>
          <p:nvPr/>
        </p:nvSpPr>
        <p:spPr>
          <a:xfrm>
            <a:off x="6035040" y="2880360"/>
            <a:ext cx="2606040" cy="1783080"/>
          </a:xfrm>
          <a:prstGeom prst="roundRect">
            <a:avLst>
              <a:gd name="adj" fmla="val 5128"/>
            </a:avLst>
          </a:prstGeom>
          <a:solidFill>
            <a:srgbClr val="FFFFFF"/>
          </a:solidFill>
          <a:ln/>
          <a:effectLst>
            <a:outerShdw sx="100000" sy="100000" kx="0" ky="0" algn="bl" rotWithShape="0" blurRad="101600" dist="25400" dir="2700000">
              <a:srgbClr val="000000">
                <a:alpha val="10000"/>
              </a:srgbClr>
            </a:outerShdw>
          </a:effectLst>
        </p:spPr>
      </p:sp>
      <p:sp>
        <p:nvSpPr>
          <p:cNvPr id="20" name="Text 18"/>
          <p:cNvSpPr/>
          <p:nvPr/>
        </p:nvSpPr>
        <p:spPr>
          <a:xfrm>
            <a:off x="6199632" y="2990088"/>
            <a:ext cx="227685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Combined Queries</a:t>
            </a:r>
            <a:endParaRPr lang="en-US" sz="1300" dirty="0"/>
          </a:p>
        </p:txBody>
      </p:sp>
      <p:sp>
        <p:nvSpPr>
          <p:cNvPr id="21" name="Text 19"/>
          <p:cNvSpPr/>
          <p:nvPr/>
        </p:nvSpPr>
        <p:spPr>
          <a:xfrm>
            <a:off x="6199632" y="3355848"/>
            <a:ext cx="2276856" cy="11978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Plan + risks + status</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in one message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Architecture: 8 Nodes. Fully Linear. Zero Parallel Paths.</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1371600"/>
            <a:ext cx="914400" cy="1005840"/>
          </a:xfrm>
          <a:prstGeom prst="roundRect">
            <a:avLst>
              <a:gd name="adj" fmla="val 10000"/>
            </a:avLst>
          </a:prstGeom>
          <a:solidFill>
            <a:srgbClr val="1C7293"/>
          </a:solidFill>
          <a:ln/>
          <a:effectLst>
            <a:outerShdw sx="100000" sy="100000" kx="0" ky="0" algn="bl" rotWithShape="0" blurRad="101600" dist="25400" dir="2700000">
              <a:srgbClr val="000000">
                <a:alpha val="10000"/>
              </a:srgbClr>
            </a:outerShdw>
          </a:effectLst>
        </p:spPr>
      </p:sp>
      <p:sp>
        <p:nvSpPr>
          <p:cNvPr id="5" name="Text 3"/>
          <p:cNvSpPr/>
          <p:nvPr/>
        </p:nvSpPr>
        <p:spPr>
          <a:xfrm>
            <a:off x="50292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Telegram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Trigger</a:t>
            </a:r>
            <a:endParaRPr lang="en-US" sz="1000" dirty="0"/>
          </a:p>
        </p:txBody>
      </p:sp>
      <p:sp>
        <p:nvSpPr>
          <p:cNvPr id="6" name="Shape 4"/>
          <p:cNvSpPr/>
          <p:nvPr/>
        </p:nvSpPr>
        <p:spPr>
          <a:xfrm>
            <a:off x="1371600" y="1874520"/>
            <a:ext cx="137160" cy="0"/>
          </a:xfrm>
          <a:prstGeom prst="line">
            <a:avLst/>
          </a:prstGeom>
          <a:noFill/>
          <a:ln w="19050">
            <a:solidFill>
              <a:srgbClr val="1C7293"/>
            </a:solidFill>
            <a:prstDash val="solid"/>
          </a:ln>
        </p:spPr>
      </p:sp>
      <p:sp>
        <p:nvSpPr>
          <p:cNvPr id="7" name="Shape 5"/>
          <p:cNvSpPr/>
          <p:nvPr/>
        </p:nvSpPr>
        <p:spPr>
          <a:xfrm>
            <a:off x="1508760" y="1371600"/>
            <a:ext cx="914400" cy="1005840"/>
          </a:xfrm>
          <a:prstGeom prst="roundRect">
            <a:avLst>
              <a:gd name="adj" fmla="val 10000"/>
            </a:avLst>
          </a:prstGeom>
          <a:solidFill>
            <a:srgbClr val="065A82"/>
          </a:solidFill>
          <a:ln/>
          <a:effectLst>
            <a:outerShdw sx="100000" sy="100000" kx="0" ky="0" algn="bl" rotWithShape="0" blurRad="101600" dist="25400" dir="2700000">
              <a:srgbClr val="000000">
                <a:alpha val="10000"/>
              </a:srgbClr>
            </a:outerShdw>
          </a:effectLst>
        </p:spPr>
      </p:sp>
      <p:sp>
        <p:nvSpPr>
          <p:cNvPr id="8" name="Text 6"/>
          <p:cNvSpPr/>
          <p:nvPr/>
        </p:nvSpPr>
        <p:spPr>
          <a:xfrm>
            <a:off x="155448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Mira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OpenAI</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gpt-4o</a:t>
            </a:r>
            <a:endParaRPr lang="en-US" sz="1000" dirty="0"/>
          </a:p>
        </p:txBody>
      </p:sp>
      <p:sp>
        <p:nvSpPr>
          <p:cNvPr id="9" name="Shape 7"/>
          <p:cNvSpPr/>
          <p:nvPr/>
        </p:nvSpPr>
        <p:spPr>
          <a:xfrm>
            <a:off x="2423160" y="1874520"/>
            <a:ext cx="137160" cy="0"/>
          </a:xfrm>
          <a:prstGeom prst="line">
            <a:avLst/>
          </a:prstGeom>
          <a:noFill/>
          <a:ln w="19050">
            <a:solidFill>
              <a:srgbClr val="1C7293"/>
            </a:solidFill>
            <a:prstDash val="solid"/>
          </a:ln>
        </p:spPr>
      </p:sp>
      <p:sp>
        <p:nvSpPr>
          <p:cNvPr id="10" name="Shape 8"/>
          <p:cNvSpPr/>
          <p:nvPr/>
        </p:nvSpPr>
        <p:spPr>
          <a:xfrm>
            <a:off x="2560320" y="1371600"/>
            <a:ext cx="914400" cy="1005840"/>
          </a:xfrm>
          <a:prstGeom prst="roundRect">
            <a:avLst>
              <a:gd name="adj" fmla="val 10000"/>
            </a:avLst>
          </a:prstGeom>
          <a:solidFill>
            <a:srgbClr val="1C7293"/>
          </a:solidFill>
          <a:ln/>
          <a:effectLst>
            <a:outerShdw sx="100000" sy="100000" kx="0" ky="0" algn="bl" rotWithShape="0" blurRad="101600" dist="25400" dir="2700000">
              <a:srgbClr val="000000">
                <a:alpha val="10000"/>
              </a:srgbClr>
            </a:outerShdw>
          </a:effectLst>
        </p:spPr>
      </p:sp>
      <p:sp>
        <p:nvSpPr>
          <p:cNvPr id="11" name="Text 9"/>
          <p:cNvSpPr/>
          <p:nvPr/>
        </p:nvSpPr>
        <p:spPr>
          <a:xfrm>
            <a:off x="260604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If Email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Needed</a:t>
            </a:r>
            <a:endParaRPr lang="en-US" sz="1000" dirty="0"/>
          </a:p>
        </p:txBody>
      </p:sp>
      <p:sp>
        <p:nvSpPr>
          <p:cNvPr id="12" name="Shape 10"/>
          <p:cNvSpPr/>
          <p:nvPr/>
        </p:nvSpPr>
        <p:spPr>
          <a:xfrm>
            <a:off x="3474720" y="1874520"/>
            <a:ext cx="137160" cy="0"/>
          </a:xfrm>
          <a:prstGeom prst="line">
            <a:avLst/>
          </a:prstGeom>
          <a:noFill/>
          <a:ln w="19050">
            <a:solidFill>
              <a:srgbClr val="1C7293"/>
            </a:solidFill>
            <a:prstDash val="solid"/>
          </a:ln>
        </p:spPr>
      </p:sp>
      <p:sp>
        <p:nvSpPr>
          <p:cNvPr id="13" name="Shape 11"/>
          <p:cNvSpPr/>
          <p:nvPr/>
        </p:nvSpPr>
        <p:spPr>
          <a:xfrm>
            <a:off x="3611880" y="1371600"/>
            <a:ext cx="914400" cy="1005840"/>
          </a:xfrm>
          <a:prstGeom prst="roundRect">
            <a:avLst>
              <a:gd name="adj" fmla="val 10000"/>
            </a:avLst>
          </a:prstGeom>
          <a:solidFill>
            <a:srgbClr val="1C7293"/>
          </a:solidFill>
          <a:ln/>
          <a:effectLst>
            <a:outerShdw sx="100000" sy="100000" kx="0" ky="0" algn="bl" rotWithShape="0" blurRad="101600" dist="25400" dir="2700000">
              <a:srgbClr val="000000">
                <a:alpha val="10000"/>
              </a:srgbClr>
            </a:outerShdw>
          </a:effectLst>
        </p:spPr>
      </p:sp>
      <p:sp>
        <p:nvSpPr>
          <p:cNvPr id="14" name="Text 12"/>
          <p:cNvSpPr/>
          <p:nvPr/>
        </p:nvSpPr>
        <p:spPr>
          <a:xfrm>
            <a:off x="365760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Convert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to HTML</a:t>
            </a:r>
            <a:endParaRPr lang="en-US" sz="1000" dirty="0"/>
          </a:p>
        </p:txBody>
      </p:sp>
      <p:sp>
        <p:nvSpPr>
          <p:cNvPr id="15" name="Shape 13"/>
          <p:cNvSpPr/>
          <p:nvPr/>
        </p:nvSpPr>
        <p:spPr>
          <a:xfrm>
            <a:off x="4526280" y="1874520"/>
            <a:ext cx="137160" cy="0"/>
          </a:xfrm>
          <a:prstGeom prst="line">
            <a:avLst/>
          </a:prstGeom>
          <a:noFill/>
          <a:ln w="19050">
            <a:solidFill>
              <a:srgbClr val="1C7293"/>
            </a:solidFill>
            <a:prstDash val="solid"/>
          </a:ln>
        </p:spPr>
      </p:sp>
      <p:sp>
        <p:nvSpPr>
          <p:cNvPr id="16" name="Shape 14"/>
          <p:cNvSpPr/>
          <p:nvPr/>
        </p:nvSpPr>
        <p:spPr>
          <a:xfrm>
            <a:off x="4663440" y="1371600"/>
            <a:ext cx="914400" cy="1005840"/>
          </a:xfrm>
          <a:prstGeom prst="roundRect">
            <a:avLst>
              <a:gd name="adj" fmla="val 10000"/>
            </a:avLst>
          </a:prstGeom>
          <a:solidFill>
            <a:srgbClr val="028090"/>
          </a:solidFill>
          <a:ln/>
          <a:effectLst>
            <a:outerShdw sx="100000" sy="100000" kx="0" ky="0" algn="bl" rotWithShape="0" blurRad="101600" dist="25400" dir="2700000">
              <a:srgbClr val="000000">
                <a:alpha val="10000"/>
              </a:srgbClr>
            </a:outerShdw>
          </a:effectLst>
        </p:spPr>
      </p:sp>
      <p:sp>
        <p:nvSpPr>
          <p:cNvPr id="17" name="Text 15"/>
          <p:cNvSpPr/>
          <p:nvPr/>
        </p:nvSpPr>
        <p:spPr>
          <a:xfrm>
            <a:off x="470916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Gmail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Send</a:t>
            </a:r>
            <a:endParaRPr lang="en-US" sz="1000" dirty="0"/>
          </a:p>
        </p:txBody>
      </p:sp>
      <p:sp>
        <p:nvSpPr>
          <p:cNvPr id="18" name="Shape 16"/>
          <p:cNvSpPr/>
          <p:nvPr/>
        </p:nvSpPr>
        <p:spPr>
          <a:xfrm>
            <a:off x="5577840" y="1874520"/>
            <a:ext cx="137160" cy="0"/>
          </a:xfrm>
          <a:prstGeom prst="line">
            <a:avLst/>
          </a:prstGeom>
          <a:noFill/>
          <a:ln w="19050">
            <a:solidFill>
              <a:srgbClr val="1C7293"/>
            </a:solidFill>
            <a:prstDash val="solid"/>
          </a:ln>
        </p:spPr>
      </p:sp>
      <p:sp>
        <p:nvSpPr>
          <p:cNvPr id="19" name="Shape 17"/>
          <p:cNvSpPr/>
          <p:nvPr/>
        </p:nvSpPr>
        <p:spPr>
          <a:xfrm>
            <a:off x="5715000" y="1371600"/>
            <a:ext cx="914400" cy="1005840"/>
          </a:xfrm>
          <a:prstGeom prst="roundRect">
            <a:avLst>
              <a:gd name="adj" fmla="val 10000"/>
            </a:avLst>
          </a:prstGeom>
          <a:solidFill>
            <a:srgbClr val="1C7293"/>
          </a:solidFill>
          <a:ln/>
          <a:effectLst>
            <a:outerShdw sx="100000" sy="100000" kx="0" ky="0" algn="bl" rotWithShape="0" blurRad="101600" dist="25400" dir="2700000">
              <a:srgbClr val="000000">
                <a:alpha val="10000"/>
              </a:srgbClr>
            </a:outerShdw>
          </a:effectLst>
        </p:spPr>
      </p:sp>
      <p:sp>
        <p:nvSpPr>
          <p:cNvPr id="20" name="Text 18"/>
          <p:cNvSpPr/>
          <p:nvPr/>
        </p:nvSpPr>
        <p:spPr>
          <a:xfrm>
            <a:off x="576072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21" name="Shape 19"/>
          <p:cNvSpPr/>
          <p:nvPr/>
        </p:nvSpPr>
        <p:spPr>
          <a:xfrm>
            <a:off x="6629400" y="1874520"/>
            <a:ext cx="137160" cy="0"/>
          </a:xfrm>
          <a:prstGeom prst="line">
            <a:avLst/>
          </a:prstGeom>
          <a:noFill/>
          <a:ln w="19050">
            <a:solidFill>
              <a:srgbClr val="1C7293"/>
            </a:solidFill>
            <a:prstDash val="solid"/>
          </a:ln>
        </p:spPr>
      </p:sp>
      <p:sp>
        <p:nvSpPr>
          <p:cNvPr id="22" name="Shape 20"/>
          <p:cNvSpPr/>
          <p:nvPr/>
        </p:nvSpPr>
        <p:spPr>
          <a:xfrm>
            <a:off x="6766560" y="1371600"/>
            <a:ext cx="914400" cy="1005840"/>
          </a:xfrm>
          <a:prstGeom prst="roundRect">
            <a:avLst>
              <a:gd name="adj" fmla="val 10000"/>
            </a:avLst>
          </a:prstGeom>
          <a:solidFill>
            <a:srgbClr val="028090"/>
          </a:solidFill>
          <a:ln/>
          <a:effectLst>
            <a:outerShdw sx="100000" sy="100000" kx="0" ky="0" algn="bl" rotWithShape="0" blurRad="101600" dist="25400" dir="2700000">
              <a:srgbClr val="000000">
                <a:alpha val="10000"/>
              </a:srgbClr>
            </a:outerShdw>
          </a:effectLst>
        </p:spPr>
      </p:sp>
      <p:sp>
        <p:nvSpPr>
          <p:cNvPr id="23" name="Text 21"/>
          <p:cNvSpPr/>
          <p:nvPr/>
        </p:nvSpPr>
        <p:spPr>
          <a:xfrm>
            <a:off x="681228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Langfuse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Trace</a:t>
            </a:r>
            <a:endParaRPr lang="en-US" sz="1000" dirty="0"/>
          </a:p>
        </p:txBody>
      </p:sp>
      <p:sp>
        <p:nvSpPr>
          <p:cNvPr id="24" name="Shape 22"/>
          <p:cNvSpPr/>
          <p:nvPr/>
        </p:nvSpPr>
        <p:spPr>
          <a:xfrm>
            <a:off x="7680960" y="1874520"/>
            <a:ext cx="137160" cy="0"/>
          </a:xfrm>
          <a:prstGeom prst="line">
            <a:avLst/>
          </a:prstGeom>
          <a:noFill/>
          <a:ln w="19050">
            <a:solidFill>
              <a:srgbClr val="1C7293"/>
            </a:solidFill>
            <a:prstDash val="solid"/>
          </a:ln>
        </p:spPr>
      </p:sp>
      <p:sp>
        <p:nvSpPr>
          <p:cNvPr id="25" name="Shape 23"/>
          <p:cNvSpPr/>
          <p:nvPr/>
        </p:nvSpPr>
        <p:spPr>
          <a:xfrm>
            <a:off x="7818120" y="1371600"/>
            <a:ext cx="914400" cy="1005840"/>
          </a:xfrm>
          <a:prstGeom prst="roundRect">
            <a:avLst>
              <a:gd name="adj" fmla="val 10000"/>
            </a:avLst>
          </a:prstGeom>
          <a:solidFill>
            <a:srgbClr val="065A82"/>
          </a:solidFill>
          <a:ln/>
          <a:effectLst>
            <a:outerShdw sx="100000" sy="100000" kx="0" ky="0" algn="bl" rotWithShape="0" blurRad="101600" dist="25400" dir="2700000">
              <a:srgbClr val="000000">
                <a:alpha val="10000"/>
              </a:srgbClr>
            </a:outerShdw>
          </a:effectLst>
        </p:spPr>
      </p:sp>
      <p:sp>
        <p:nvSpPr>
          <p:cNvPr id="26" name="Text 24"/>
          <p:cNvSpPr/>
          <p:nvPr/>
        </p:nvSpPr>
        <p:spPr>
          <a:xfrm>
            <a:off x="7863840" y="1417320"/>
            <a:ext cx="82296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Telegram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Send</a:t>
            </a:r>
            <a:endParaRPr lang="en-US" sz="1000" dirty="0"/>
          </a:p>
        </p:txBody>
      </p:sp>
      <p:sp>
        <p:nvSpPr>
          <p:cNvPr id="27" name="Shape 25"/>
          <p:cNvSpPr/>
          <p:nvPr/>
        </p:nvSpPr>
        <p:spPr>
          <a:xfrm>
            <a:off x="1280160" y="2743200"/>
            <a:ext cx="2926080" cy="640080"/>
          </a:xfrm>
          <a:prstGeom prst="roundRect">
            <a:avLst>
              <a:gd name="adj" fmla="val 11429"/>
            </a:avLst>
          </a:prstGeom>
          <a:solidFill>
            <a:srgbClr val="E8F4F8"/>
          </a:solidFill>
          <a:ln w="12700">
            <a:solidFill>
              <a:srgbClr val="1C7293"/>
            </a:solidFill>
            <a:prstDash val="solid"/>
          </a:ln>
        </p:spPr>
      </p:sp>
      <p:sp>
        <p:nvSpPr>
          <p:cNvPr id="28" name="Text 26"/>
          <p:cNvSpPr/>
          <p:nvPr/>
        </p:nvSpPr>
        <p:spPr>
          <a:xfrm>
            <a:off x="1371600" y="2788920"/>
            <a:ext cx="2743200" cy="548640"/>
          </a:xfrm>
          <a:prstGeom prst="rect">
            <a:avLst/>
          </a:prstGeom>
          <a:noFill/>
          <a:ln/>
        </p:spPr>
        <p:txBody>
          <a:bodyPr wrap="square" lIns="0" tIns="0" rIns="0" bIns="0" rtlCol="0" anchor="ctr"/>
          <a:lstStyle/>
          <a:p>
            <a:pPr algn="ctr" indent="0" marL="0">
              <a:buNone/>
            </a:pPr>
            <a:r>
              <a:rPr lang="en-US" sz="1100" dirty="0">
                <a:solidFill>
                  <a:srgbClr val="065A82"/>
                </a:solidFill>
                <a:latin typeface="Calibri" pitchFamily="34" charset="0"/>
                <a:ea typeface="Calibri" pitchFamily="34" charset="-122"/>
                <a:cs typeface="Calibri" pitchFamily="34" charset="-120"/>
              </a:rPr>
              <a:t>All project data embedded</a:t>
            </a:r>
            <a:endParaRPr lang="en-US" sz="1100" dirty="0"/>
          </a:p>
          <a:p>
            <a:pPr algn="ctr" indent="0" marL="0">
              <a:buNone/>
            </a:pPr>
            <a:r>
              <a:rPr lang="en-US" sz="1100" dirty="0">
                <a:solidFill>
                  <a:srgbClr val="065A82"/>
                </a:solidFill>
                <a:latin typeface="Calibri" pitchFamily="34" charset="0"/>
                <a:ea typeface="Calibri" pitchFamily="34" charset="-122"/>
                <a:cs typeface="Calibri" pitchFamily="34" charset="-120"/>
              </a:rPr>
              <a:t>in system prompt</a:t>
            </a:r>
            <a:endParaRPr lang="en-US" sz="1100" dirty="0"/>
          </a:p>
        </p:txBody>
      </p:sp>
      <p:sp>
        <p:nvSpPr>
          <p:cNvPr id="29" name="Shape 27"/>
          <p:cNvSpPr/>
          <p:nvPr/>
        </p:nvSpPr>
        <p:spPr>
          <a:xfrm>
            <a:off x="6858000" y="2743200"/>
            <a:ext cx="1828800" cy="640080"/>
          </a:xfrm>
          <a:prstGeom prst="roundRect">
            <a:avLst>
              <a:gd name="adj" fmla="val 11429"/>
            </a:avLst>
          </a:prstGeom>
          <a:solidFill>
            <a:srgbClr val="E8F4F8"/>
          </a:solidFill>
          <a:ln w="12700">
            <a:solidFill>
              <a:srgbClr val="1C7293"/>
            </a:solidFill>
            <a:prstDash val="solid"/>
          </a:ln>
        </p:spPr>
      </p:sp>
      <p:sp>
        <p:nvSpPr>
          <p:cNvPr id="30" name="Text 28"/>
          <p:cNvSpPr/>
          <p:nvPr/>
        </p:nvSpPr>
        <p:spPr>
          <a:xfrm>
            <a:off x="6949440" y="2788920"/>
            <a:ext cx="1645920" cy="548640"/>
          </a:xfrm>
          <a:prstGeom prst="rect">
            <a:avLst/>
          </a:prstGeom>
          <a:noFill/>
          <a:ln/>
        </p:spPr>
        <p:txBody>
          <a:bodyPr wrap="square" lIns="0" tIns="0" rIns="0" bIns="0" rtlCol="0" anchor="ctr"/>
          <a:lstStyle/>
          <a:p>
            <a:pPr algn="ctr" indent="0" marL="0">
              <a:buNone/>
            </a:pPr>
            <a:r>
              <a:rPr lang="en-US" sz="1100" dirty="0">
                <a:solidFill>
                  <a:srgbClr val="065A82"/>
                </a:solidFill>
                <a:latin typeface="Calibri" pitchFamily="34" charset="0"/>
                <a:ea typeface="Calibri" pitchFamily="34" charset="-122"/>
                <a:cs typeface="Calibri" pitchFamily="34" charset="-120"/>
              </a:rPr>
              <a:t>Full trace</a:t>
            </a:r>
            <a:endParaRPr lang="en-US" sz="1100" dirty="0"/>
          </a:p>
          <a:p>
            <a:pPr algn="ctr" indent="0" marL="0">
              <a:buNone/>
            </a:pPr>
            <a:r>
              <a:rPr lang="en-US" sz="1100" dirty="0">
                <a:solidFill>
                  <a:srgbClr val="065A82"/>
                </a:solidFill>
                <a:latin typeface="Calibri" pitchFamily="34" charset="0"/>
                <a:ea typeface="Calibri" pitchFamily="34" charset="-122"/>
                <a:cs typeface="Calibri" pitchFamily="34" charset="-120"/>
              </a:rPr>
              <a:t>per interaction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731520"/>
            <a:ext cx="1828800" cy="1828800"/>
          </a:xfrm>
          <a:prstGeom prst="rect">
            <a:avLst/>
          </a:prstGeom>
          <a:noFill/>
          <a:ln/>
        </p:spPr>
        <p:txBody>
          <a:bodyPr wrap="square" rtlCol="0" anchor="t"/>
          <a:lstStyle/>
          <a:p>
            <a:pPr algn="l" indent="0" marL="0">
              <a:buNone/>
            </a:pPr>
            <a:r>
              <a:rPr lang="en-US" sz="9600" b="1" dirty="0">
                <a:solidFill>
                  <a:srgbClr val="CADCFC">
                    <a:alpha val="70000"/>
                  </a:srgbClr>
                </a:solidFill>
                <a:latin typeface="Calibri" pitchFamily="34" charset="0"/>
                <a:ea typeface="Calibri" pitchFamily="34" charset="-122"/>
                <a:cs typeface="Calibri" pitchFamily="34" charset="-120"/>
              </a:rPr>
              <a:t>02</a:t>
            </a:r>
            <a:endParaRPr lang="en-US" sz="9600" dirty="0"/>
          </a:p>
        </p:txBody>
      </p:sp>
      <p:sp>
        <p:nvSpPr>
          <p:cNvPr id="3" name="Text 1"/>
          <p:cNvSpPr/>
          <p:nvPr/>
        </p:nvSpPr>
        <p:spPr>
          <a:xfrm>
            <a:off x="731520" y="2194560"/>
            <a:ext cx="7680960" cy="10972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How We Got Here</a:t>
            </a:r>
            <a:endParaRPr lang="en-US" sz="3600" dirty="0"/>
          </a:p>
        </p:txBody>
      </p:sp>
      <p:sp>
        <p:nvSpPr>
          <p:cNvPr id="4" name="Text 2"/>
          <p:cNvSpPr/>
          <p:nvPr/>
        </p:nvSpPr>
        <p:spPr>
          <a:xfrm>
            <a:off x="731520" y="3383280"/>
            <a:ext cx="7680960" cy="6400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Eight versions. Five architectural pivots. One honest story.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Eight Versions. Each One Taught Us Something.</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914400"/>
            <a:ext cx="1508760" cy="1828800"/>
          </a:xfrm>
          <a:prstGeom prst="roundRect">
            <a:avLst>
              <a:gd name="adj" fmla="val 6061"/>
            </a:avLst>
          </a:prstGeom>
          <a:solidFill>
            <a:srgbClr val="E8F4F8"/>
          </a:solidFill>
          <a:ln/>
          <a:effectLst>
            <a:outerShdw sx="100000" sy="100000" kx="0" ky="0" algn="bl" rotWithShape="0" blurRad="101600" dist="25400" dir="2700000">
              <a:srgbClr val="000000">
                <a:alpha val="10000"/>
              </a:srgbClr>
            </a:outerShdw>
          </a:effectLst>
        </p:spPr>
      </p:sp>
      <p:sp>
        <p:nvSpPr>
          <p:cNvPr id="5" name="Text 3"/>
          <p:cNvSpPr/>
          <p:nvPr/>
        </p:nvSpPr>
        <p:spPr>
          <a:xfrm>
            <a:off x="621792" y="1024128"/>
            <a:ext cx="117957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v1-v3</a:t>
            </a:r>
            <a:endParaRPr lang="en-US" sz="1300" dirty="0"/>
          </a:p>
        </p:txBody>
      </p:sp>
      <p:sp>
        <p:nvSpPr>
          <p:cNvPr id="6" name="Text 4"/>
          <p:cNvSpPr/>
          <p:nvPr/>
        </p:nvSpPr>
        <p:spPr>
          <a:xfrm>
            <a:off x="621792" y="1389888"/>
            <a:ext cx="1179576" cy="12435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Planner agent</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and credential debug</a:t>
            </a:r>
            <a:endParaRPr lang="en-US" sz="1200" dirty="0"/>
          </a:p>
        </p:txBody>
      </p:sp>
      <p:sp>
        <p:nvSpPr>
          <p:cNvPr id="7" name="Shape 5"/>
          <p:cNvSpPr/>
          <p:nvPr/>
        </p:nvSpPr>
        <p:spPr>
          <a:xfrm>
            <a:off x="1965960" y="1828800"/>
            <a:ext cx="182880" cy="0"/>
          </a:xfrm>
          <a:prstGeom prst="line">
            <a:avLst/>
          </a:prstGeom>
          <a:noFill/>
          <a:ln w="12700">
            <a:solidFill>
              <a:srgbClr val="64748B"/>
            </a:solidFill>
            <a:prstDash val="dash"/>
          </a:ln>
        </p:spPr>
      </p:sp>
      <p:sp>
        <p:nvSpPr>
          <p:cNvPr id="8" name="Shape 6"/>
          <p:cNvSpPr/>
          <p:nvPr/>
        </p:nvSpPr>
        <p:spPr>
          <a:xfrm>
            <a:off x="2148840" y="914400"/>
            <a:ext cx="1508760" cy="1828800"/>
          </a:xfrm>
          <a:prstGeom prst="roundRect">
            <a:avLst>
              <a:gd name="adj" fmla="val 6061"/>
            </a:avLst>
          </a:prstGeom>
          <a:solidFill>
            <a:srgbClr val="E8F4F8"/>
          </a:solidFill>
          <a:ln/>
          <a:effectLst>
            <a:outerShdw sx="100000" sy="100000" kx="0" ky="0" algn="bl" rotWithShape="0" blurRad="101600" dist="25400" dir="2700000">
              <a:srgbClr val="000000">
                <a:alpha val="10000"/>
              </a:srgbClr>
            </a:outerShdw>
          </a:effectLst>
        </p:spPr>
      </p:sp>
      <p:sp>
        <p:nvSpPr>
          <p:cNvPr id="9" name="Text 7"/>
          <p:cNvSpPr/>
          <p:nvPr/>
        </p:nvSpPr>
        <p:spPr>
          <a:xfrm>
            <a:off x="2313432" y="1024128"/>
            <a:ext cx="117957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v4-v5</a:t>
            </a:r>
            <a:endParaRPr lang="en-US" sz="1300" dirty="0"/>
          </a:p>
        </p:txBody>
      </p:sp>
      <p:sp>
        <p:nvSpPr>
          <p:cNvPr id="10" name="Text 8"/>
          <p:cNvSpPr/>
          <p:nvPr/>
        </p:nvSpPr>
        <p:spPr>
          <a:xfrm>
            <a:off x="2313432" y="1389888"/>
            <a:ext cx="1179576" cy="12435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Risk + Status added</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Switch node routing</a:t>
            </a:r>
            <a:endParaRPr lang="en-US" sz="1200" dirty="0"/>
          </a:p>
        </p:txBody>
      </p:sp>
      <p:sp>
        <p:nvSpPr>
          <p:cNvPr id="11" name="Shape 9"/>
          <p:cNvSpPr/>
          <p:nvPr/>
        </p:nvSpPr>
        <p:spPr>
          <a:xfrm>
            <a:off x="3657600" y="1828800"/>
            <a:ext cx="182880" cy="0"/>
          </a:xfrm>
          <a:prstGeom prst="line">
            <a:avLst/>
          </a:prstGeom>
          <a:noFill/>
          <a:ln w="12700">
            <a:solidFill>
              <a:srgbClr val="64748B"/>
            </a:solidFill>
            <a:prstDash val="dash"/>
          </a:ln>
        </p:spPr>
      </p:sp>
      <p:sp>
        <p:nvSpPr>
          <p:cNvPr id="12" name="Shape 10"/>
          <p:cNvSpPr/>
          <p:nvPr/>
        </p:nvSpPr>
        <p:spPr>
          <a:xfrm>
            <a:off x="3840480" y="914400"/>
            <a:ext cx="1508760" cy="1828800"/>
          </a:xfrm>
          <a:prstGeom prst="roundRect">
            <a:avLst>
              <a:gd name="adj" fmla="val 6061"/>
            </a:avLst>
          </a:prstGeom>
          <a:solidFill>
            <a:srgbClr val="E8F8F5"/>
          </a:solidFill>
          <a:ln/>
          <a:effectLst>
            <a:outerShdw sx="100000" sy="100000" kx="0" ky="0" algn="bl" rotWithShape="0" blurRad="101600" dist="25400" dir="2700000">
              <a:srgbClr val="000000">
                <a:alpha val="10000"/>
              </a:srgbClr>
            </a:outerShdw>
          </a:effectLst>
        </p:spPr>
      </p:sp>
      <p:sp>
        <p:nvSpPr>
          <p:cNvPr id="13" name="Text 11"/>
          <p:cNvSpPr/>
          <p:nvPr/>
        </p:nvSpPr>
        <p:spPr>
          <a:xfrm>
            <a:off x="4005072" y="1024128"/>
            <a:ext cx="117957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v6</a:t>
            </a:r>
            <a:endParaRPr lang="en-US" sz="1300" dirty="0"/>
          </a:p>
        </p:txBody>
      </p:sp>
      <p:sp>
        <p:nvSpPr>
          <p:cNvPr id="14" name="Text 12"/>
          <p:cNvSpPr/>
          <p:nvPr/>
        </p:nvSpPr>
        <p:spPr>
          <a:xfrm>
            <a:off x="4005072" y="1389888"/>
            <a:ext cx="1179576" cy="12435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Full system working</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14 tests passing</a:t>
            </a:r>
            <a:endParaRPr lang="en-US" sz="1200" dirty="0"/>
          </a:p>
        </p:txBody>
      </p:sp>
      <p:sp>
        <p:nvSpPr>
          <p:cNvPr id="15" name="Shape 13"/>
          <p:cNvSpPr/>
          <p:nvPr/>
        </p:nvSpPr>
        <p:spPr>
          <a:xfrm>
            <a:off x="5349240" y="1828800"/>
            <a:ext cx="182880" cy="0"/>
          </a:xfrm>
          <a:prstGeom prst="line">
            <a:avLst/>
          </a:prstGeom>
          <a:noFill/>
          <a:ln w="12700">
            <a:solidFill>
              <a:srgbClr val="64748B"/>
            </a:solidFill>
            <a:prstDash val="dash"/>
          </a:ln>
        </p:spPr>
      </p:sp>
      <p:sp>
        <p:nvSpPr>
          <p:cNvPr id="16" name="Shape 14"/>
          <p:cNvSpPr/>
          <p:nvPr/>
        </p:nvSpPr>
        <p:spPr>
          <a:xfrm>
            <a:off x="5532120" y="914400"/>
            <a:ext cx="1508760" cy="1828800"/>
          </a:xfrm>
          <a:prstGeom prst="roundRect">
            <a:avLst>
              <a:gd name="adj" fmla="val 6061"/>
            </a:avLst>
          </a:prstGeom>
          <a:solidFill>
            <a:srgbClr val="FEF3C7"/>
          </a:solidFill>
          <a:ln/>
          <a:effectLst>
            <a:outerShdw sx="100000" sy="100000" kx="0" ky="0" algn="bl" rotWithShape="0" blurRad="101600" dist="25400" dir="2700000">
              <a:srgbClr val="000000">
                <a:alpha val="10000"/>
              </a:srgbClr>
            </a:outerShdw>
          </a:effectLst>
        </p:spPr>
      </p:sp>
      <p:sp>
        <p:nvSpPr>
          <p:cNvPr id="17" name="Text 15"/>
          <p:cNvSpPr/>
          <p:nvPr/>
        </p:nvSpPr>
        <p:spPr>
          <a:xfrm>
            <a:off x="5696712" y="1024128"/>
            <a:ext cx="117957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v7</a:t>
            </a:r>
            <a:endParaRPr lang="en-US" sz="1300" dirty="0"/>
          </a:p>
        </p:txBody>
      </p:sp>
      <p:sp>
        <p:nvSpPr>
          <p:cNvPr id="18" name="Text 16"/>
          <p:cNvSpPr/>
          <p:nvPr/>
        </p:nvSpPr>
        <p:spPr>
          <a:xfrm>
            <a:off x="5696712" y="1389888"/>
            <a:ext cx="1179576" cy="12435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Telegram + parallel</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fan-out. Merge deadlock.</a:t>
            </a:r>
            <a:endParaRPr lang="en-US" sz="1200" dirty="0"/>
          </a:p>
        </p:txBody>
      </p:sp>
      <p:sp>
        <p:nvSpPr>
          <p:cNvPr id="19" name="Shape 17"/>
          <p:cNvSpPr/>
          <p:nvPr/>
        </p:nvSpPr>
        <p:spPr>
          <a:xfrm>
            <a:off x="7040880" y="1828800"/>
            <a:ext cx="182880" cy="0"/>
          </a:xfrm>
          <a:prstGeom prst="line">
            <a:avLst/>
          </a:prstGeom>
          <a:noFill/>
          <a:ln w="12700">
            <a:solidFill>
              <a:srgbClr val="64748B"/>
            </a:solidFill>
            <a:prstDash val="dash"/>
          </a:ln>
        </p:spPr>
      </p:sp>
      <p:sp>
        <p:nvSpPr>
          <p:cNvPr id="20" name="Shape 18"/>
          <p:cNvSpPr/>
          <p:nvPr/>
        </p:nvSpPr>
        <p:spPr>
          <a:xfrm>
            <a:off x="7223760" y="914400"/>
            <a:ext cx="1508760" cy="1828800"/>
          </a:xfrm>
          <a:prstGeom prst="roundRect">
            <a:avLst>
              <a:gd name="adj" fmla="val 6061"/>
            </a:avLst>
          </a:prstGeom>
          <a:solidFill>
            <a:srgbClr val="E8F8F5"/>
          </a:solidFill>
          <a:ln/>
          <a:effectLst>
            <a:outerShdw sx="100000" sy="100000" kx="0" ky="0" algn="bl" rotWithShape="0" blurRad="101600" dist="25400" dir="2700000">
              <a:srgbClr val="000000">
                <a:alpha val="10000"/>
              </a:srgbClr>
            </a:outerShdw>
          </a:effectLst>
        </p:spPr>
      </p:sp>
      <p:sp>
        <p:nvSpPr>
          <p:cNvPr id="21" name="Text 19"/>
          <p:cNvSpPr/>
          <p:nvPr/>
        </p:nvSpPr>
        <p:spPr>
          <a:xfrm>
            <a:off x="7388352" y="1024128"/>
            <a:ext cx="117957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v8</a:t>
            </a:r>
            <a:endParaRPr lang="en-US" sz="1300" dirty="0"/>
          </a:p>
        </p:txBody>
      </p:sp>
      <p:sp>
        <p:nvSpPr>
          <p:cNvPr id="22" name="Text 20"/>
          <p:cNvSpPr/>
          <p:nvPr/>
        </p:nvSpPr>
        <p:spPr>
          <a:xfrm>
            <a:off x="7388352" y="1389888"/>
            <a:ext cx="1179576" cy="12435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Single OpenAI call</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All data in prompt</a:t>
            </a:r>
            <a:endParaRPr lang="en-US" sz="1200" dirty="0"/>
          </a:p>
        </p:txBody>
      </p:sp>
      <p:sp>
        <p:nvSpPr>
          <p:cNvPr id="23" name="Text 21"/>
          <p:cNvSpPr/>
          <p:nvPr/>
        </p:nvSpPr>
        <p:spPr>
          <a:xfrm>
            <a:off x="457200" y="2926080"/>
            <a:ext cx="8229600" cy="411480"/>
          </a:xfrm>
          <a:prstGeom prst="rect">
            <a:avLst/>
          </a:prstGeom>
          <a:noFill/>
          <a:ln/>
        </p:spPr>
        <p:txBody>
          <a:bodyPr wrap="square" rtlCol="0" anchor="ctr"/>
          <a:lstStyle/>
          <a:p>
            <a:pPr algn="l" indent="0" marL="0">
              <a:buNone/>
            </a:pPr>
            <a:r>
              <a:rPr lang="en-US" sz="1300" b="1" dirty="0">
                <a:solidFill>
                  <a:srgbClr val="065A82"/>
                </a:solidFill>
                <a:latin typeface="Calibri" pitchFamily="34" charset="0"/>
                <a:ea typeface="Calibri" pitchFamily="34" charset="-122"/>
                <a:cs typeface="Calibri" pitchFamily="34" charset="-120"/>
              </a:rPr>
              <a:t>Key n8n Learning: Expressions inside HTTP Request JSON body strings do not resolve reliably on Starter plan.</a:t>
            </a:r>
            <a:endParaRPr lang="en-US" sz="1300" dirty="0"/>
          </a:p>
        </p:txBody>
      </p:sp>
      <p:sp>
        <p:nvSpPr>
          <p:cNvPr id="24" name="Text 22"/>
          <p:cNvSpPr/>
          <p:nvPr/>
        </p:nvSpPr>
        <p:spPr>
          <a:xfrm>
            <a:off x="457200" y="3337560"/>
            <a:ext cx="8229600" cy="411480"/>
          </a:xfrm>
          <a:prstGeom prst="rect">
            <a:avLst/>
          </a:prstGeom>
          <a:noFill/>
          <a:ln/>
        </p:spPr>
        <p:txBody>
          <a:bodyPr wrap="square"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Resolution: Native n8n OpenAI node resolves chatInput correctly. All project data embedded as static text in system prompt.</a:t>
            </a:r>
            <a:endParaRPr lang="en-US" sz="1300" dirty="0"/>
          </a:p>
        </p:txBody>
      </p:sp>
      <p:sp>
        <p:nvSpPr>
          <p:cNvPr id="25" name="Text 23"/>
          <p:cNvSpPr/>
          <p:nvPr/>
        </p:nvSpPr>
        <p:spPr>
          <a:xfrm>
            <a:off x="457200" y="3794760"/>
            <a:ext cx="8229600" cy="548640"/>
          </a:xfrm>
          <a:prstGeom prst="rect">
            <a:avLst/>
          </a:prstGeom>
          <a:noFill/>
          <a:ln/>
        </p:spPr>
        <p:txBody>
          <a:bodyPr wrap="square" rtlCol="0" anchor="ctr"/>
          <a:lstStyle/>
          <a:p>
            <a:pPr algn="l" indent="0" marL="0">
              <a:buNone/>
            </a:pPr>
            <a:r>
              <a:rPr lang="en-US" sz="1300" dirty="0">
                <a:solidFill>
                  <a:srgbClr val="1E293B"/>
                </a:solidFill>
                <a:latin typeface="Calibri" pitchFamily="34" charset="0"/>
                <a:ea typeface="Calibri" pitchFamily="34" charset="-122"/>
                <a:cs typeface="Calibri" pitchFamily="34" charset="-120"/>
              </a:rPr>
              <a:t>Parallel merge architecture abandoned. AI Agent with sub-workflows hallucinated when tools returned empty data. Single intelligent call with embedded context was the solution.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731520"/>
            <a:ext cx="1828800" cy="1828800"/>
          </a:xfrm>
          <a:prstGeom prst="rect">
            <a:avLst/>
          </a:prstGeom>
          <a:noFill/>
          <a:ln/>
        </p:spPr>
        <p:txBody>
          <a:bodyPr wrap="square" rtlCol="0" anchor="t"/>
          <a:lstStyle/>
          <a:p>
            <a:pPr algn="l" indent="0" marL="0">
              <a:buNone/>
            </a:pPr>
            <a:r>
              <a:rPr lang="en-US" sz="9600" b="1" dirty="0">
                <a:solidFill>
                  <a:srgbClr val="CADCFC">
                    <a:alpha val="70000"/>
                  </a:srgbClr>
                </a:solidFill>
                <a:latin typeface="Calibri" pitchFamily="34" charset="0"/>
                <a:ea typeface="Calibri" pitchFamily="34" charset="-122"/>
                <a:cs typeface="Calibri" pitchFamily="34" charset="-120"/>
              </a:rPr>
              <a:t>03</a:t>
            </a:r>
            <a:endParaRPr lang="en-US" sz="9600" dirty="0"/>
          </a:p>
        </p:txBody>
      </p:sp>
      <p:sp>
        <p:nvSpPr>
          <p:cNvPr id="3" name="Text 1"/>
          <p:cNvSpPr/>
          <p:nvPr/>
        </p:nvSpPr>
        <p:spPr>
          <a:xfrm>
            <a:off x="731520" y="2194560"/>
            <a:ext cx="7680960" cy="10972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Baseline Test Results</a:t>
            </a:r>
            <a:endParaRPr lang="en-US" sz="3600" dirty="0"/>
          </a:p>
        </p:txBody>
      </p:sp>
      <p:sp>
        <p:nvSpPr>
          <p:cNvPr id="4" name="Text 2"/>
          <p:cNvSpPr/>
          <p:nvPr/>
        </p:nvSpPr>
        <p:spPr>
          <a:xfrm>
            <a:off x="731520" y="3383280"/>
            <a:ext cx="7680960" cy="6400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14 tests. 14 passes. Zero hallucinations.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All 14 Baseline Tests Pass. Zero Hallucinations.</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1005840"/>
            <a:ext cx="182880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548640" y="1097280"/>
            <a:ext cx="1645920" cy="713232"/>
          </a:xfrm>
          <a:prstGeom prst="rect">
            <a:avLst/>
          </a:prstGeom>
          <a:noFill/>
          <a:ln/>
        </p:spPr>
        <p:txBody>
          <a:bodyPr wrap="square" lIns="0" tIns="0" rIns="0" bIns="0"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14 / 14</a:t>
            </a:r>
            <a:endParaRPr lang="en-US" sz="2800" dirty="0"/>
          </a:p>
        </p:txBody>
      </p:sp>
      <p:sp>
        <p:nvSpPr>
          <p:cNvPr id="6" name="Text 4"/>
          <p:cNvSpPr/>
          <p:nvPr/>
        </p:nvSpPr>
        <p:spPr>
          <a:xfrm>
            <a:off x="548640" y="1801368"/>
            <a:ext cx="164592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Tests Passing</a:t>
            </a:r>
            <a:endParaRPr lang="en-US" sz="1100" dirty="0"/>
          </a:p>
        </p:txBody>
      </p:sp>
      <p:sp>
        <p:nvSpPr>
          <p:cNvPr id="7" name="Shape 5"/>
          <p:cNvSpPr/>
          <p:nvPr/>
        </p:nvSpPr>
        <p:spPr>
          <a:xfrm>
            <a:off x="2468880" y="1005840"/>
            <a:ext cx="182880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2560320" y="1097280"/>
            <a:ext cx="1645920" cy="713232"/>
          </a:xfrm>
          <a:prstGeom prst="rect">
            <a:avLst/>
          </a:prstGeom>
          <a:noFill/>
          <a:ln/>
        </p:spPr>
        <p:txBody>
          <a:bodyPr wrap="square" lIns="0" tIns="0" rIns="0" bIns="0"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0</a:t>
            </a:r>
            <a:endParaRPr lang="en-US" sz="2800" dirty="0"/>
          </a:p>
        </p:txBody>
      </p:sp>
      <p:sp>
        <p:nvSpPr>
          <p:cNvPr id="9" name="Text 7"/>
          <p:cNvSpPr/>
          <p:nvPr/>
        </p:nvSpPr>
        <p:spPr>
          <a:xfrm>
            <a:off x="2560320" y="1801368"/>
            <a:ext cx="164592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Hallucinations</a:t>
            </a:r>
            <a:endParaRPr lang="en-US" sz="1100" dirty="0"/>
          </a:p>
        </p:txBody>
      </p:sp>
      <p:sp>
        <p:nvSpPr>
          <p:cNvPr id="10" name="Shape 8"/>
          <p:cNvSpPr/>
          <p:nvPr/>
        </p:nvSpPr>
        <p:spPr>
          <a:xfrm>
            <a:off x="4480560" y="1005840"/>
            <a:ext cx="182880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4572000" y="1097280"/>
            <a:ext cx="1645920" cy="713232"/>
          </a:xfrm>
          <a:prstGeom prst="rect">
            <a:avLst/>
          </a:prstGeom>
          <a:noFill/>
          <a:ln/>
        </p:spPr>
        <p:txBody>
          <a:bodyPr wrap="square" lIns="0" tIns="0" rIns="0" bIns="0"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+ 2</a:t>
            </a:r>
            <a:endParaRPr lang="en-US" sz="2800" dirty="0"/>
          </a:p>
        </p:txBody>
      </p:sp>
      <p:sp>
        <p:nvSpPr>
          <p:cNvPr id="12" name="Text 10"/>
          <p:cNvSpPr/>
          <p:nvPr/>
        </p:nvSpPr>
        <p:spPr>
          <a:xfrm>
            <a:off x="4572000" y="1801368"/>
            <a:ext cx="164592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Extended Tests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(T13, T14)</a:t>
            </a:r>
            <a:endParaRPr lang="en-US" sz="1100" dirty="0"/>
          </a:p>
        </p:txBody>
      </p:sp>
      <p:sp>
        <p:nvSpPr>
          <p:cNvPr id="13" name="Shape 11"/>
          <p:cNvSpPr/>
          <p:nvPr/>
        </p:nvSpPr>
        <p:spPr>
          <a:xfrm>
            <a:off x="6492240" y="1005840"/>
            <a:ext cx="182880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4" name="Text 12"/>
          <p:cNvSpPr/>
          <p:nvPr/>
        </p:nvSpPr>
        <p:spPr>
          <a:xfrm>
            <a:off x="6583680" y="1097280"/>
            <a:ext cx="1645920" cy="713232"/>
          </a:xfrm>
          <a:prstGeom prst="rect">
            <a:avLst/>
          </a:prstGeom>
          <a:noFill/>
          <a:ln/>
        </p:spPr>
        <p:txBody>
          <a:bodyPr wrap="square" lIns="0" tIns="0" rIns="0" bIns="0" rtlCol="0" anchor="ctr"/>
          <a:lstStyle/>
          <a:p>
            <a:pPr algn="ctr" indent="0" marL="0">
              <a:buNone/>
            </a:pPr>
            <a:r>
              <a:rPr lang="en-US" sz="2800" b="1" dirty="0">
                <a:solidFill>
                  <a:srgbClr val="02C39A"/>
                </a:solidFill>
                <a:latin typeface="Calibri" pitchFamily="34" charset="0"/>
                <a:ea typeface="Calibri" pitchFamily="34" charset="-122"/>
                <a:cs typeface="Calibri" pitchFamily="34" charset="-120"/>
              </a:rPr>
              <a:t>100%</a:t>
            </a:r>
            <a:endParaRPr lang="en-US" sz="2800" dirty="0"/>
          </a:p>
        </p:txBody>
      </p:sp>
      <p:sp>
        <p:nvSpPr>
          <p:cNvPr id="15" name="Text 13"/>
          <p:cNvSpPr/>
          <p:nvPr/>
        </p:nvSpPr>
        <p:spPr>
          <a:xfrm>
            <a:off x="6583680" y="1801368"/>
            <a:ext cx="164592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Data</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Grounded</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8229600" cy="2377440"/>
        </p:xfrm>
        <a:graphic>
          <a:graphicData uri="http://schemas.openxmlformats.org/drawingml/2006/table">
            <a:tbl>
              <a:tblPr/>
              <a:tblGrid>
                <a:gridCol w="502920"/>
                <a:gridCol w="914400"/>
                <a:gridCol w="1920240"/>
                <a:gridCol w="502920"/>
                <a:gridCol w="914400"/>
                <a:gridCol w="1920240"/>
              </a:tblGrid>
              <a:tr h="29718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Agent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Test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Agent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Planner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Full 8-phase plan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Overdue with assignees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Planner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Vague input refused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Planner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Edge case refused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All 10 risks returned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Counts: 5/3/17/25/8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Vague input refused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Planner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Current + next phase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Sprint 3 report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Sprint 2 email sent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No data refused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No sprint refused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718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Top 3 by severity</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T14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Stakeholder</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28090"/>
                          </a:solidFill>
                          <a:latin typeface="Calibri" pitchFamily="34" charset="0"/>
                          <a:ea typeface="Calibri" pitchFamily="34" charset="-122"/>
                          <a:cs typeface="Calibri" pitchFamily="34" charset="-120"/>
                        </a:rPr>
                        <a:t>PASS - Sprint 3 email sent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Combined Query: Plan + Risks + Sprint 3 Status. One Message.</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960120"/>
            <a:ext cx="3840480" cy="685800"/>
          </a:xfrm>
          <a:prstGeom prst="roundRect">
            <a:avLst>
              <a:gd name="adj" fmla="val 13333"/>
            </a:avLst>
          </a:prstGeom>
          <a:solidFill>
            <a:srgbClr val="065A82"/>
          </a:solidFill>
          <a:ln/>
        </p:spPr>
      </p:sp>
      <p:sp>
        <p:nvSpPr>
          <p:cNvPr id="5" name="Text 3"/>
          <p:cNvSpPr/>
          <p:nvPr/>
        </p:nvSpPr>
        <p:spPr>
          <a:xfrm>
            <a:off x="548640" y="987552"/>
            <a:ext cx="365760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Telegram Message Sent:</a:t>
            </a:r>
            <a:endParaRPr lang="en-US" sz="1000" dirty="0"/>
          </a:p>
        </p:txBody>
      </p:sp>
      <p:sp>
        <p:nvSpPr>
          <p:cNvPr id="6" name="Text 4"/>
          <p:cNvSpPr/>
          <p:nvPr/>
        </p:nvSpPr>
        <p:spPr>
          <a:xfrm>
            <a:off x="548640" y="1261872"/>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Give me the project plan, current risks, and Sprint 3 status</a:t>
            </a:r>
            <a:endParaRPr lang="en-US" sz="1100" dirty="0"/>
          </a:p>
        </p:txBody>
      </p:sp>
      <p:sp>
        <p:nvSpPr>
          <p:cNvPr id="7" name="Shape 5"/>
          <p:cNvSpPr/>
          <p:nvPr/>
        </p:nvSpPr>
        <p:spPr>
          <a:xfrm>
            <a:off x="4297680" y="1298448"/>
            <a:ext cx="457200" cy="0"/>
          </a:xfrm>
          <a:prstGeom prst="line">
            <a:avLst/>
          </a:prstGeom>
          <a:noFill/>
          <a:ln w="25400">
            <a:solidFill>
              <a:srgbClr val="02C39A"/>
            </a:solidFill>
            <a:prstDash val="solid"/>
          </a:ln>
        </p:spPr>
      </p:sp>
      <p:sp>
        <p:nvSpPr>
          <p:cNvPr id="8" name="Shape 6"/>
          <p:cNvSpPr/>
          <p:nvPr/>
        </p:nvSpPr>
        <p:spPr>
          <a:xfrm>
            <a:off x="4846320" y="960120"/>
            <a:ext cx="1188720" cy="1371600"/>
          </a:xfrm>
          <a:prstGeom prst="roundRect">
            <a:avLst>
              <a:gd name="adj" fmla="val 7692"/>
            </a:avLst>
          </a:prstGeom>
          <a:solidFill>
            <a:srgbClr val="E8F4F8"/>
          </a:solidFill>
          <a:ln/>
          <a:effectLst>
            <a:outerShdw sx="100000" sy="100000" kx="0" ky="0" algn="bl" rotWithShape="0" blurRad="101600" dist="25400" dir="2700000">
              <a:srgbClr val="000000">
                <a:alpha val="10000"/>
              </a:srgbClr>
            </a:outerShdw>
          </a:effectLst>
        </p:spPr>
      </p:sp>
      <p:sp>
        <p:nvSpPr>
          <p:cNvPr id="9" name="Text 7"/>
          <p:cNvSpPr/>
          <p:nvPr/>
        </p:nvSpPr>
        <p:spPr>
          <a:xfrm>
            <a:off x="5010912" y="1069848"/>
            <a:ext cx="85953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Project Plan</a:t>
            </a:r>
            <a:endParaRPr lang="en-US" sz="1300" dirty="0"/>
          </a:p>
        </p:txBody>
      </p:sp>
      <p:sp>
        <p:nvSpPr>
          <p:cNvPr id="10" name="Text 8"/>
          <p:cNvSpPr/>
          <p:nvPr/>
        </p:nvSpPr>
        <p:spPr>
          <a:xfrm>
            <a:off x="5010912" y="1435608"/>
            <a:ext cx="859536" cy="7863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All 8 phases table</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Success criteria</a:t>
            </a:r>
            <a:endParaRPr lang="en-US" sz="1200" dirty="0"/>
          </a:p>
        </p:txBody>
      </p:sp>
      <p:sp>
        <p:nvSpPr>
          <p:cNvPr id="11" name="Shape 9"/>
          <p:cNvSpPr/>
          <p:nvPr/>
        </p:nvSpPr>
        <p:spPr>
          <a:xfrm>
            <a:off x="6172200" y="960120"/>
            <a:ext cx="1188720" cy="1371600"/>
          </a:xfrm>
          <a:prstGeom prst="roundRect">
            <a:avLst>
              <a:gd name="adj" fmla="val 7692"/>
            </a:avLst>
          </a:prstGeom>
          <a:solidFill>
            <a:srgbClr val="E8F4F8"/>
          </a:solidFill>
          <a:ln/>
          <a:effectLst>
            <a:outerShdw sx="100000" sy="100000" kx="0" ky="0" algn="bl" rotWithShape="0" blurRad="101600" dist="25400" dir="2700000">
              <a:srgbClr val="000000">
                <a:alpha val="10000"/>
              </a:srgbClr>
            </a:outerShdw>
          </a:effectLst>
        </p:spPr>
      </p:sp>
      <p:sp>
        <p:nvSpPr>
          <p:cNvPr id="12" name="Text 10"/>
          <p:cNvSpPr/>
          <p:nvPr/>
        </p:nvSpPr>
        <p:spPr>
          <a:xfrm>
            <a:off x="6336792" y="1069848"/>
            <a:ext cx="85953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Risk Assessment</a:t>
            </a:r>
            <a:endParaRPr lang="en-US" sz="1300" dirty="0"/>
          </a:p>
        </p:txBody>
      </p:sp>
      <p:sp>
        <p:nvSpPr>
          <p:cNvPr id="13" name="Text 11"/>
          <p:cNvSpPr/>
          <p:nvPr/>
        </p:nvSpPr>
        <p:spPr>
          <a:xfrm>
            <a:off x="6336792" y="1435608"/>
            <a:ext cx="859536" cy="7863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All 10 risks table</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R01 through R10</a:t>
            </a:r>
            <a:endParaRPr lang="en-US" sz="1200" dirty="0"/>
          </a:p>
        </p:txBody>
      </p:sp>
      <p:sp>
        <p:nvSpPr>
          <p:cNvPr id="14" name="Shape 12"/>
          <p:cNvSpPr/>
          <p:nvPr/>
        </p:nvSpPr>
        <p:spPr>
          <a:xfrm>
            <a:off x="7498080" y="960120"/>
            <a:ext cx="1188720" cy="1371600"/>
          </a:xfrm>
          <a:prstGeom prst="roundRect">
            <a:avLst>
              <a:gd name="adj" fmla="val 7692"/>
            </a:avLst>
          </a:prstGeom>
          <a:solidFill>
            <a:srgbClr val="E8F4F8"/>
          </a:solidFill>
          <a:ln/>
          <a:effectLst>
            <a:outerShdw sx="100000" sy="100000" kx="0" ky="0" algn="bl" rotWithShape="0" blurRad="101600" dist="25400" dir="2700000">
              <a:srgbClr val="000000">
                <a:alpha val="10000"/>
              </a:srgbClr>
            </a:outerShdw>
          </a:effectLst>
        </p:spPr>
      </p:sp>
      <p:sp>
        <p:nvSpPr>
          <p:cNvPr id="15" name="Text 13"/>
          <p:cNvSpPr/>
          <p:nvPr/>
        </p:nvSpPr>
        <p:spPr>
          <a:xfrm>
            <a:off x="7662672" y="1069848"/>
            <a:ext cx="85953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Sprint 3 Status</a:t>
            </a:r>
            <a:endParaRPr lang="en-US" sz="1300" dirty="0"/>
          </a:p>
        </p:txBody>
      </p:sp>
      <p:sp>
        <p:nvSpPr>
          <p:cNvPr id="16" name="Text 14"/>
          <p:cNvSpPr/>
          <p:nvPr/>
        </p:nvSpPr>
        <p:spPr>
          <a:xfrm>
            <a:off x="7662672" y="1435608"/>
            <a:ext cx="859536" cy="78638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Done:5 InProgress:3</a:t>
            </a: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To Do:17 Overdue:8</a:t>
            </a:r>
            <a:endParaRPr lang="en-US" sz="1200" dirty="0"/>
          </a:p>
        </p:txBody>
      </p:sp>
      <p:sp>
        <p:nvSpPr>
          <p:cNvPr id="17" name="Text 15"/>
          <p:cNvSpPr/>
          <p:nvPr/>
        </p:nvSpPr>
        <p:spPr>
          <a:xfrm>
            <a:off x="457200" y="2514600"/>
            <a:ext cx="82296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Response arrived in Telegram in 14 seconds. Full report sent to Gmail as formatted HTML email with dynamic subject line.</a:t>
            </a:r>
            <a:endParaRPr lang="en-US" sz="1300" dirty="0"/>
          </a:p>
        </p:txBody>
      </p:sp>
      <p:sp>
        <p:nvSpPr>
          <p:cNvPr id="18" name="Shape 16"/>
          <p:cNvSpPr/>
          <p:nvPr/>
        </p:nvSpPr>
        <p:spPr>
          <a:xfrm>
            <a:off x="457200" y="2971800"/>
            <a:ext cx="8229600" cy="1828800"/>
          </a:xfrm>
          <a:prstGeom prst="roundRect">
            <a:avLst>
              <a:gd name="adj" fmla="val 5000"/>
            </a:avLst>
          </a:prstGeom>
          <a:solidFill>
            <a:srgbClr val="E8F4F8"/>
          </a:solidFill>
          <a:ln/>
        </p:spPr>
      </p:sp>
      <p:sp>
        <p:nvSpPr>
          <p:cNvPr id="19" name="Text 17"/>
          <p:cNvSpPr/>
          <p:nvPr/>
        </p:nvSpPr>
        <p:spPr>
          <a:xfrm>
            <a:off x="640080" y="3063240"/>
            <a:ext cx="786384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What the output confirmed:</a:t>
            </a:r>
            <a:endParaRPr lang="en-US" sz="1300" dirty="0"/>
          </a:p>
        </p:txBody>
      </p:sp>
      <p:sp>
        <p:nvSpPr>
          <p:cNvPr id="20" name="Text 18"/>
          <p:cNvSpPr/>
          <p:nvPr/>
        </p:nvSpPr>
        <p:spPr>
          <a:xfrm>
            <a:off x="640080" y="3401568"/>
            <a:ext cx="7863840" cy="128016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All 8 phases present in the project plan, grounded in the timeline CSV only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All 10 risks included with correct IDs, none invented</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Task counts exactly matched the verified figures: Done 5, In Progress 3, To Do 17, Overdue 8</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Three sections combined in one response, no separate queries needed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731520"/>
            <a:ext cx="1828800" cy="1828800"/>
          </a:xfrm>
          <a:prstGeom prst="rect">
            <a:avLst/>
          </a:prstGeom>
          <a:noFill/>
          <a:ln/>
        </p:spPr>
        <p:txBody>
          <a:bodyPr wrap="square" rtlCol="0" anchor="t"/>
          <a:lstStyle/>
          <a:p>
            <a:pPr algn="l" indent="0" marL="0">
              <a:buNone/>
            </a:pPr>
            <a:r>
              <a:rPr lang="en-US" sz="9600" b="1" dirty="0">
                <a:solidFill>
                  <a:srgbClr val="CADCFC">
                    <a:alpha val="70000"/>
                  </a:srgbClr>
                </a:solidFill>
                <a:latin typeface="Calibri" pitchFamily="34" charset="0"/>
                <a:ea typeface="Calibri" pitchFamily="34" charset="-122"/>
                <a:cs typeface="Calibri" pitchFamily="34" charset="-120"/>
              </a:rPr>
              <a:t>04</a:t>
            </a:r>
            <a:endParaRPr lang="en-US" sz="9600" dirty="0"/>
          </a:p>
        </p:txBody>
      </p:sp>
      <p:sp>
        <p:nvSpPr>
          <p:cNvPr id="3" name="Text 1"/>
          <p:cNvSpPr/>
          <p:nvPr/>
        </p:nvSpPr>
        <p:spPr>
          <a:xfrm>
            <a:off x="731520" y="2194560"/>
            <a:ext cx="7680960" cy="10972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Cost and Observability</a:t>
            </a:r>
            <a:endParaRPr lang="en-US" sz="3600" dirty="0"/>
          </a:p>
        </p:txBody>
      </p:sp>
      <p:sp>
        <p:nvSpPr>
          <p:cNvPr id="4" name="Text 2"/>
          <p:cNvSpPr/>
          <p:nvPr/>
        </p:nvSpPr>
        <p:spPr>
          <a:xfrm>
            <a:off x="731520" y="3383280"/>
            <a:ext cx="7680960" cy="6400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What does it cost? How do we know it is working?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Cost: $7.50 per PM per Month. ROI Clear from Day One.</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548640" y="1097280"/>
            <a:ext cx="1737360" cy="713232"/>
          </a:xfrm>
          <a:prstGeom prst="rect">
            <a:avLst/>
          </a:prstGeom>
          <a:noFill/>
          <a:ln/>
        </p:spPr>
        <p:txBody>
          <a:bodyPr wrap="square" lIns="0" tIns="0" rIns="0" bIns="0" rtlCol="0" anchor="ctr"/>
          <a:lstStyle/>
          <a:p>
            <a:pPr algn="ctr" indent="0" marL="0">
              <a:buNone/>
            </a:pPr>
            <a:r>
              <a:rPr lang="en-US" sz="2800" b="1" dirty="0">
                <a:solidFill>
                  <a:srgbClr val="1C7293"/>
                </a:solidFill>
                <a:latin typeface="Calibri" pitchFamily="34" charset="0"/>
                <a:ea typeface="Calibri" pitchFamily="34" charset="-122"/>
                <a:cs typeface="Calibri" pitchFamily="34" charset="-120"/>
              </a:rPr>
              <a:t>~15K</a:t>
            </a:r>
            <a:endParaRPr lang="en-US" sz="2800" dirty="0"/>
          </a:p>
        </p:txBody>
      </p:sp>
      <p:sp>
        <p:nvSpPr>
          <p:cNvPr id="6" name="Text 4"/>
          <p:cNvSpPr/>
          <p:nvPr/>
        </p:nvSpPr>
        <p:spPr>
          <a:xfrm>
            <a:off x="54864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Input tokens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per query</a:t>
            </a:r>
            <a:endParaRPr lang="en-US" sz="1100" dirty="0"/>
          </a:p>
        </p:txBody>
      </p:sp>
      <p:sp>
        <p:nvSpPr>
          <p:cNvPr id="7" name="Shape 5"/>
          <p:cNvSpPr/>
          <p:nvPr/>
        </p:nvSpPr>
        <p:spPr>
          <a:xfrm>
            <a:off x="256032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2651760" y="1097280"/>
            <a:ext cx="1737360" cy="713232"/>
          </a:xfrm>
          <a:prstGeom prst="rect">
            <a:avLst/>
          </a:prstGeom>
          <a:noFill/>
          <a:ln/>
        </p:spPr>
        <p:txBody>
          <a:bodyPr wrap="square" lIns="0" tIns="0" rIns="0" bIns="0" rtlCol="0" anchor="ctr"/>
          <a:lstStyle/>
          <a:p>
            <a:pPr algn="ctr" indent="0" marL="0">
              <a:buNone/>
            </a:pPr>
            <a:r>
              <a:rPr lang="en-US" sz="2800" b="1" dirty="0">
                <a:solidFill>
                  <a:srgbClr val="1C7293"/>
                </a:solidFill>
                <a:latin typeface="Calibri" pitchFamily="34" charset="0"/>
                <a:ea typeface="Calibri" pitchFamily="34" charset="-122"/>
                <a:cs typeface="Calibri" pitchFamily="34" charset="-120"/>
              </a:rPr>
              <a:t>$0.05</a:t>
            </a:r>
            <a:endParaRPr lang="en-US" sz="2800" dirty="0"/>
          </a:p>
        </p:txBody>
      </p:sp>
      <p:sp>
        <p:nvSpPr>
          <p:cNvPr id="9" name="Text 7"/>
          <p:cNvSpPr/>
          <p:nvPr/>
        </p:nvSpPr>
        <p:spPr>
          <a:xfrm>
            <a:off x="265176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Cost per</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query</a:t>
            </a:r>
            <a:endParaRPr lang="en-US" sz="1100" dirty="0"/>
          </a:p>
        </p:txBody>
      </p:sp>
      <p:sp>
        <p:nvSpPr>
          <p:cNvPr id="10" name="Shape 8"/>
          <p:cNvSpPr/>
          <p:nvPr/>
        </p:nvSpPr>
        <p:spPr>
          <a:xfrm>
            <a:off x="466344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4754880" y="1097280"/>
            <a:ext cx="1737360" cy="713232"/>
          </a:xfrm>
          <a:prstGeom prst="rect">
            <a:avLst/>
          </a:prstGeom>
          <a:noFill/>
          <a:ln/>
        </p:spPr>
        <p:txBody>
          <a:bodyPr wrap="square" lIns="0" tIns="0" rIns="0" bIns="0" rtlCol="0" anchor="ctr"/>
          <a:lstStyle/>
          <a:p>
            <a:pPr algn="ctr" indent="0" marL="0">
              <a:buNone/>
            </a:pPr>
            <a:r>
              <a:rPr lang="en-US" sz="2800" b="1" dirty="0">
                <a:solidFill>
                  <a:srgbClr val="065A82"/>
                </a:solidFill>
                <a:latin typeface="Calibri" pitchFamily="34" charset="0"/>
                <a:ea typeface="Calibri" pitchFamily="34" charset="-122"/>
                <a:cs typeface="Calibri" pitchFamily="34" charset="-120"/>
              </a:rPr>
              <a:t>$7.50</a:t>
            </a:r>
            <a:endParaRPr lang="en-US" sz="2800" dirty="0"/>
          </a:p>
        </p:txBody>
      </p:sp>
      <p:sp>
        <p:nvSpPr>
          <p:cNvPr id="12" name="Text 10"/>
          <p:cNvSpPr/>
          <p:nvPr/>
        </p:nvSpPr>
        <p:spPr>
          <a:xfrm>
            <a:off x="475488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Per PM</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per month</a:t>
            </a:r>
            <a:endParaRPr lang="en-US" sz="1100" dirty="0"/>
          </a:p>
        </p:txBody>
      </p:sp>
      <p:sp>
        <p:nvSpPr>
          <p:cNvPr id="13" name="Shape 11"/>
          <p:cNvSpPr/>
          <p:nvPr/>
        </p:nvSpPr>
        <p:spPr>
          <a:xfrm>
            <a:off x="6766560" y="1005840"/>
            <a:ext cx="1920240" cy="1371600"/>
          </a:xfrm>
          <a:prstGeom prst="roundRect">
            <a:avLst>
              <a:gd name="adj" fmla="val 6667"/>
            </a:avLst>
          </a:prstGeom>
          <a:solidFill>
            <a:srgbClr val="FFFFFF"/>
          </a:solidFill>
          <a:ln/>
          <a:effectLst>
            <a:outerShdw sx="100000" sy="100000" kx="0" ky="0" algn="bl" rotWithShape="0" blurRad="101600" dist="25400" dir="2700000">
              <a:srgbClr val="000000">
                <a:alpha val="10000"/>
              </a:srgbClr>
            </a:outerShdw>
          </a:effectLst>
        </p:spPr>
      </p:sp>
      <p:sp>
        <p:nvSpPr>
          <p:cNvPr id="14" name="Text 12"/>
          <p:cNvSpPr/>
          <p:nvPr/>
        </p:nvSpPr>
        <p:spPr>
          <a:xfrm>
            <a:off x="6858000" y="1097280"/>
            <a:ext cx="1737360" cy="713232"/>
          </a:xfrm>
          <a:prstGeom prst="rect">
            <a:avLst/>
          </a:prstGeom>
          <a:noFill/>
          <a:ln/>
        </p:spPr>
        <p:txBody>
          <a:bodyPr wrap="square" lIns="0" tIns="0" rIns="0" bIns="0" rtlCol="0" anchor="ctr"/>
          <a:lstStyle/>
          <a:p>
            <a:pPr algn="ctr" indent="0" marL="0">
              <a:buNone/>
            </a:pPr>
            <a:r>
              <a:rPr lang="en-US" sz="2800" b="1" dirty="0">
                <a:solidFill>
                  <a:srgbClr val="065A82"/>
                </a:solidFill>
                <a:latin typeface="Calibri" pitchFamily="34" charset="0"/>
                <a:ea typeface="Calibri" pitchFamily="34" charset="-122"/>
                <a:cs typeface="Calibri" pitchFamily="34" charset="-120"/>
              </a:rPr>
              <a:t>$75</a:t>
            </a:r>
            <a:endParaRPr lang="en-US" sz="2800" dirty="0"/>
          </a:p>
        </p:txBody>
      </p:sp>
      <p:sp>
        <p:nvSpPr>
          <p:cNvPr id="15" name="Text 13"/>
          <p:cNvSpPr/>
          <p:nvPr/>
        </p:nvSpPr>
        <p:spPr>
          <a:xfrm>
            <a:off x="6858000" y="1801368"/>
            <a:ext cx="1737360" cy="521208"/>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10 PMs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per month</a:t>
            </a:r>
            <a:endParaRPr lang="en-US" sz="1100" dirty="0"/>
          </a:p>
        </p:txBody>
      </p:sp>
      <p:sp>
        <p:nvSpPr>
          <p:cNvPr id="16" name="Text 14"/>
          <p:cNvSpPr/>
          <p:nvPr/>
        </p:nvSpPr>
        <p:spPr>
          <a:xfrm>
            <a:off x="457200" y="2560320"/>
            <a:ext cx="384048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Cost Driver</a:t>
            </a:r>
            <a:endParaRPr lang="en-US" sz="1300" dirty="0"/>
          </a:p>
        </p:txBody>
      </p:sp>
      <p:sp>
        <p:nvSpPr>
          <p:cNvPr id="17" name="Text 15"/>
          <p:cNvSpPr/>
          <p:nvPr/>
        </p:nvSpPr>
        <p:spPr>
          <a:xfrm>
            <a:off x="457200" y="2880360"/>
            <a:ext cx="3840480" cy="11887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The large system prompt (~15,000 tokens) is the primary cost driver. All project data is sent on every query to enable reliable grounding. A RAG implementation in Phase 4 would reduce this to 4,000 to 5,000 tokens per query, cutting cost by 60 to 70 percent.</a:t>
            </a:r>
            <a:endParaRPr lang="en-US" sz="1200" dirty="0"/>
          </a:p>
        </p:txBody>
      </p:sp>
      <p:sp>
        <p:nvSpPr>
          <p:cNvPr id="18" name="Shape 16"/>
          <p:cNvSpPr/>
          <p:nvPr/>
        </p:nvSpPr>
        <p:spPr>
          <a:xfrm>
            <a:off x="4663440" y="2560320"/>
            <a:ext cx="4023360" cy="1508760"/>
          </a:xfrm>
          <a:prstGeom prst="roundRect">
            <a:avLst>
              <a:gd name="adj" fmla="val 6061"/>
            </a:avLst>
          </a:prstGeom>
          <a:solidFill>
            <a:srgbClr val="E8F8F5"/>
          </a:solidFill>
          <a:ln/>
        </p:spPr>
      </p:sp>
      <p:sp>
        <p:nvSpPr>
          <p:cNvPr id="19" name="Text 17"/>
          <p:cNvSpPr/>
          <p:nvPr/>
        </p:nvSpPr>
        <p:spPr>
          <a:xfrm>
            <a:off x="4846320" y="2651760"/>
            <a:ext cx="3657600" cy="320040"/>
          </a:xfrm>
          <a:prstGeom prst="rect">
            <a:avLst/>
          </a:prstGeom>
          <a:noFill/>
          <a:ln/>
        </p:spPr>
        <p:txBody>
          <a:bodyPr wrap="square" lIns="0" tIns="0" rIns="0" bIns="0"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ROI Calculation</a:t>
            </a:r>
            <a:endParaRPr lang="en-US" sz="1300" dirty="0"/>
          </a:p>
        </p:txBody>
      </p:sp>
      <p:sp>
        <p:nvSpPr>
          <p:cNvPr id="20" name="Text 18"/>
          <p:cNvSpPr/>
          <p:nvPr/>
        </p:nvSpPr>
        <p:spPr>
          <a:xfrm>
            <a:off x="4846320" y="3017520"/>
            <a:ext cx="3657600" cy="100584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15 to 20 hours saved per PM per week</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5 PMs = 75 to 100 hours saved per week</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At Nexora billing rates: $15,000+ value per month</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Cost: $37.50 per month for 5 PMs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Observability: Langfuse Traces Every Interaction</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960120"/>
            <a:ext cx="3840480" cy="3840480"/>
          </a:xfrm>
          <a:prstGeom prst="roundRect">
            <a:avLst>
              <a:gd name="adj" fmla="val 2381"/>
            </a:avLst>
          </a:prstGeom>
          <a:solidFill>
            <a:srgbClr val="E8F4F8"/>
          </a:solidFill>
          <a:ln/>
          <a:effectLst>
            <a:outerShdw sx="100000" sy="100000" kx="0" ky="0" algn="bl" rotWithShape="0" blurRad="101600" dist="25400" dir="2700000">
              <a:srgbClr val="000000">
                <a:alpha val="10000"/>
              </a:srgbClr>
            </a:outerShdw>
          </a:effectLst>
        </p:spPr>
      </p:sp>
      <p:sp>
        <p:nvSpPr>
          <p:cNvPr id="5" name="Text 3"/>
          <p:cNvSpPr/>
          <p:nvPr/>
        </p:nvSpPr>
        <p:spPr>
          <a:xfrm>
            <a:off x="621792" y="1069848"/>
            <a:ext cx="351129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What Langfuse Captures</a:t>
            </a:r>
            <a:endParaRPr lang="en-US" sz="1300" dirty="0"/>
          </a:p>
        </p:txBody>
      </p:sp>
      <p:sp>
        <p:nvSpPr>
          <p:cNvPr id="6" name="Text 4"/>
          <p:cNvSpPr/>
          <p:nvPr/>
        </p:nvSpPr>
        <p:spPr>
          <a:xfrm>
            <a:off x="621792" y="1435608"/>
            <a:ext cx="3511296" cy="325526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One trace per Telegram message</a:t>
            </a:r>
            <a:endParaRPr lang="en-US" sz="1200" dirty="0"/>
          </a:p>
          <a:p>
            <a:pPr algn="l" indent="0" marL="0">
              <a:buNone/>
            </a:pP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Input: user query (first 300 chars)</a:t>
            </a:r>
            <a:endParaRPr lang="en-US" sz="1200" dirty="0"/>
          </a:p>
          <a:p>
            <a:pPr algn="l" indent="0" marL="0">
              <a:buNone/>
            </a:pP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Output: Mira response (first 500 chars)</a:t>
            </a:r>
            <a:endParaRPr lang="en-US" sz="1200" dirty="0"/>
          </a:p>
          <a:p>
            <a:pPr algn="l" indent="0" marL="0">
              <a:buNone/>
            </a:pP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Metadata: model (gpt-4o), intent detected</a:t>
            </a:r>
            <a:endParaRPr lang="en-US" sz="1200" dirty="0"/>
          </a:p>
          <a:p>
            <a:pPr algn="l" indent="0" marL="0">
              <a:buNone/>
            </a:pP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Latency visible per run</a:t>
            </a:r>
            <a:endParaRPr lang="en-US" sz="1200" dirty="0"/>
          </a:p>
          <a:p>
            <a:pPr algn="l" indent="0" marL="0">
              <a:buNone/>
            </a:pPr>
            <a:endParaRPr lang="en-US" sz="1200" dirty="0"/>
          </a:p>
          <a:p>
            <a:pPr algn="l" indent="0" marL="0">
              <a:buNone/>
            </a:pPr>
            <a:r>
              <a:rPr lang="en-US" sz="1200" dirty="0">
                <a:solidFill>
                  <a:srgbClr val="1E293B"/>
                </a:solidFill>
                <a:latin typeface="Calibri" pitchFamily="34" charset="0"/>
                <a:ea typeface="Calibri" pitchFamily="34" charset="-122"/>
                <a:cs typeface="Calibri" pitchFamily="34" charset="-120"/>
              </a:rPr>
              <a:t>Token usage per interaction</a:t>
            </a:r>
            <a:endParaRPr lang="en-US" sz="1200" dirty="0"/>
          </a:p>
        </p:txBody>
      </p:sp>
      <p:sp>
        <p:nvSpPr>
          <p:cNvPr id="7" name="Shape 5"/>
          <p:cNvSpPr/>
          <p:nvPr/>
        </p:nvSpPr>
        <p:spPr>
          <a:xfrm>
            <a:off x="4572000" y="960120"/>
            <a:ext cx="4114800" cy="1737360"/>
          </a:xfrm>
          <a:prstGeom prst="roundRect">
            <a:avLst>
              <a:gd name="adj" fmla="val 5263"/>
            </a:avLst>
          </a:prstGeom>
          <a:solidFill>
            <a:srgbClr val="FFFFFF"/>
          </a:solidFill>
          <a:ln/>
          <a:effectLst>
            <a:outerShdw sx="100000" sy="100000" kx="0" ky="0" algn="bl" rotWithShape="0" blurRad="101600" dist="25400" dir="2700000">
              <a:srgbClr val="000000">
                <a:alpha val="10000"/>
              </a:srgbClr>
            </a:outerShdw>
          </a:effectLst>
        </p:spPr>
      </p:sp>
      <p:sp>
        <p:nvSpPr>
          <p:cNvPr id="8" name="Text 6"/>
          <p:cNvSpPr/>
          <p:nvPr/>
        </p:nvSpPr>
        <p:spPr>
          <a:xfrm>
            <a:off x="4736592" y="1069848"/>
            <a:ext cx="378561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Trace Finding 1</a:t>
            </a:r>
            <a:endParaRPr lang="en-US" sz="1300" dirty="0"/>
          </a:p>
        </p:txBody>
      </p:sp>
      <p:sp>
        <p:nvSpPr>
          <p:cNvPr id="9" name="Text 7"/>
          <p:cNvSpPr/>
          <p:nvPr/>
        </p:nvSpPr>
        <p:spPr>
          <a:xfrm>
            <a:off x="4736592" y="1435608"/>
            <a:ext cx="3785616" cy="115214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Combined queries: 1,800 to 2,200 output tokens vs 400 to 800 for single intent. Confirms model generates all sections requested.</a:t>
            </a:r>
            <a:endParaRPr lang="en-US" sz="1200" dirty="0"/>
          </a:p>
        </p:txBody>
      </p:sp>
      <p:sp>
        <p:nvSpPr>
          <p:cNvPr id="10" name="Shape 8"/>
          <p:cNvSpPr/>
          <p:nvPr/>
        </p:nvSpPr>
        <p:spPr>
          <a:xfrm>
            <a:off x="4572000" y="2926080"/>
            <a:ext cx="4114800" cy="1737360"/>
          </a:xfrm>
          <a:prstGeom prst="roundRect">
            <a:avLst>
              <a:gd name="adj" fmla="val 5263"/>
            </a:avLst>
          </a:prstGeom>
          <a:solidFill>
            <a:srgbClr val="FFFFFF"/>
          </a:solidFill>
          <a:ln/>
          <a:effectLst>
            <a:outerShdw sx="100000" sy="100000" kx="0" ky="0" algn="bl" rotWithShape="0" blurRad="101600" dist="25400" dir="2700000">
              <a:srgbClr val="000000">
                <a:alpha val="10000"/>
              </a:srgbClr>
            </a:outerShdw>
          </a:effectLst>
        </p:spPr>
      </p:sp>
      <p:sp>
        <p:nvSpPr>
          <p:cNvPr id="11" name="Text 9"/>
          <p:cNvSpPr/>
          <p:nvPr/>
        </p:nvSpPr>
        <p:spPr>
          <a:xfrm>
            <a:off x="4736592" y="3035808"/>
            <a:ext cx="3785616" cy="347472"/>
          </a:xfrm>
          <a:prstGeom prst="rect">
            <a:avLst/>
          </a:prstGeom>
          <a:noFill/>
          <a:ln/>
        </p:spPr>
        <p:txBody>
          <a:bodyPr wrap="square" lIns="0" tIns="0" rIns="0" bIns="0" rtlCol="0" anchor="t"/>
          <a:lstStyle/>
          <a:p>
            <a:pPr algn="l" indent="0" marL="0">
              <a:buNone/>
            </a:pPr>
            <a:r>
              <a:rPr lang="en-US" sz="1300" b="1" dirty="0">
                <a:solidFill>
                  <a:srgbClr val="065A82"/>
                </a:solidFill>
                <a:latin typeface="Calibri" pitchFamily="34" charset="0"/>
                <a:ea typeface="Calibri" pitchFamily="34" charset="-122"/>
                <a:cs typeface="Calibri" pitchFamily="34" charset="-120"/>
              </a:rPr>
              <a:t>Trace Finding 2</a:t>
            </a:r>
            <a:endParaRPr lang="en-US" sz="1300" dirty="0"/>
          </a:p>
        </p:txBody>
      </p:sp>
      <p:sp>
        <p:nvSpPr>
          <p:cNvPr id="12" name="Text 10"/>
          <p:cNvSpPr/>
          <p:nvPr/>
        </p:nvSpPr>
        <p:spPr>
          <a:xfrm>
            <a:off x="4736592" y="3401568"/>
            <a:ext cx="3785616" cy="1152144"/>
          </a:xfrm>
          <a:prstGeom prst="rect">
            <a:avLst/>
          </a:prstGeom>
          <a:noFill/>
          <a:ln/>
        </p:spPr>
        <p:txBody>
          <a:bodyPr wrap="square" lIns="0" tIns="0" rIns="0" bIns="0"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Vague inputs (T2, T4, T6, T9) use significantly fewer tokens. Short refusals not full generations. Hallucination guardrails confirmed working.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C7293"/>
        </a:solidFill>
      </p:bgPr>
    </p:bg>
    <p:spTree>
      <p:nvGrpSpPr>
        <p:cNvPr id="1" name=""/>
        <p:cNvGrpSpPr/>
        <p:nvPr/>
      </p:nvGrpSpPr>
      <p:grpSpPr>
        <a:xfrm>
          <a:off x="0" y="0"/>
          <a:ext cx="0" cy="0"/>
          <a:chOff x="0" y="0"/>
          <a:chExt cx="0" cy="0"/>
        </a:xfrm>
      </p:grpSpPr>
      <p:sp>
        <p:nvSpPr>
          <p:cNvPr id="2" name="Text 0"/>
          <p:cNvSpPr/>
          <p:nvPr/>
        </p:nvSpPr>
        <p:spPr>
          <a:xfrm>
            <a:off x="548640" y="731520"/>
            <a:ext cx="1828800" cy="1828800"/>
          </a:xfrm>
          <a:prstGeom prst="rect">
            <a:avLst/>
          </a:prstGeom>
          <a:noFill/>
          <a:ln/>
        </p:spPr>
        <p:txBody>
          <a:bodyPr wrap="square" rtlCol="0" anchor="t"/>
          <a:lstStyle/>
          <a:p>
            <a:pPr algn="l" indent="0" marL="0">
              <a:buNone/>
            </a:pPr>
            <a:r>
              <a:rPr lang="en-US" sz="9600" b="1" dirty="0">
                <a:solidFill>
                  <a:srgbClr val="CADCFC">
                    <a:alpha val="70000"/>
                  </a:srgbClr>
                </a:solidFill>
                <a:latin typeface="Calibri" pitchFamily="34" charset="0"/>
                <a:ea typeface="Calibri" pitchFamily="34" charset="-122"/>
                <a:cs typeface="Calibri" pitchFamily="34" charset="-120"/>
              </a:rPr>
              <a:t>05</a:t>
            </a:r>
            <a:endParaRPr lang="en-US" sz="9600" dirty="0"/>
          </a:p>
        </p:txBody>
      </p:sp>
      <p:sp>
        <p:nvSpPr>
          <p:cNvPr id="3" name="Text 1"/>
          <p:cNvSpPr/>
          <p:nvPr/>
        </p:nvSpPr>
        <p:spPr>
          <a:xfrm>
            <a:off x="731520" y="2194560"/>
            <a:ext cx="7680960" cy="109728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What Comes Next</a:t>
            </a:r>
            <a:endParaRPr lang="en-US" sz="3600" dirty="0"/>
          </a:p>
        </p:txBody>
      </p:sp>
      <p:sp>
        <p:nvSpPr>
          <p:cNvPr id="4" name="Text 2"/>
          <p:cNvSpPr/>
          <p:nvPr/>
        </p:nvSpPr>
        <p:spPr>
          <a:xfrm>
            <a:off x="731520" y="3383280"/>
            <a:ext cx="7680960" cy="640080"/>
          </a:xfrm>
          <a:prstGeom prst="rect">
            <a:avLst/>
          </a:prstGeom>
          <a:noFill/>
          <a:ln/>
        </p:spPr>
        <p:txBody>
          <a:bodyPr wrap="square"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From capstone to production. Nexora-wide by Q4 2026.</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94360"/>
          </a:xfrm>
          <a:prstGeom prst="rect">
            <a:avLst/>
          </a:prstGeom>
          <a:noFill/>
          <a:ln/>
        </p:spPr>
        <p:txBody>
          <a:bodyPr wrap="square" rtlCol="0" anchor="ctr"/>
          <a:lstStyle/>
          <a:p>
            <a:pPr algn="l" indent="0" marL="0">
              <a:buNone/>
            </a:pPr>
            <a:r>
              <a:rPr lang="en-US" sz="2600" b="1" dirty="0">
                <a:solidFill>
                  <a:srgbClr val="065A82"/>
                </a:solidFill>
                <a:latin typeface="Calibri" pitchFamily="34" charset="0"/>
                <a:ea typeface="Calibri" pitchFamily="34" charset="-122"/>
                <a:cs typeface="Calibri" pitchFamily="34" charset="-120"/>
              </a:rPr>
              <a:t>Roadmap: Four Phases to Full Production</a:t>
            </a:r>
            <a:endParaRPr lang="en-US" sz="2600" dirty="0"/>
          </a:p>
        </p:txBody>
      </p:sp>
      <p:sp>
        <p:nvSpPr>
          <p:cNvPr id="3" name="Shape 1"/>
          <p:cNvSpPr/>
          <p:nvPr/>
        </p:nvSpPr>
        <p:spPr>
          <a:xfrm>
            <a:off x="457200" y="822960"/>
            <a:ext cx="8229600" cy="27432"/>
          </a:xfrm>
          <a:prstGeom prst="rect">
            <a:avLst/>
          </a:prstGeom>
          <a:solidFill>
            <a:srgbClr val="1C7293"/>
          </a:solidFill>
          <a:ln/>
        </p:spPr>
      </p:sp>
      <p:sp>
        <p:nvSpPr>
          <p:cNvPr id="4" name="Shape 2"/>
          <p:cNvSpPr/>
          <p:nvPr/>
        </p:nvSpPr>
        <p:spPr>
          <a:xfrm>
            <a:off x="457200" y="960120"/>
            <a:ext cx="1828800" cy="2560320"/>
          </a:xfrm>
          <a:prstGeom prst="roundRect">
            <a:avLst>
              <a:gd name="adj" fmla="val 5000"/>
            </a:avLst>
          </a:prstGeom>
          <a:solidFill>
            <a:srgbClr val="028090"/>
          </a:solidFill>
          <a:ln/>
          <a:effectLst>
            <a:outerShdw sx="100000" sy="100000" kx="0" ky="0" algn="bl" rotWithShape="0" blurRad="101600" dist="25400" dir="2700000">
              <a:srgbClr val="000000">
                <a:alpha val="10000"/>
              </a:srgbClr>
            </a:outerShdw>
          </a:effectLst>
        </p:spPr>
      </p:sp>
      <p:sp>
        <p:nvSpPr>
          <p:cNvPr id="5" name="Text 3"/>
          <p:cNvSpPr/>
          <p:nvPr/>
        </p:nvSpPr>
        <p:spPr>
          <a:xfrm>
            <a:off x="502920" y="1005840"/>
            <a:ext cx="1737360" cy="2468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1</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Complete</a:t>
            </a:r>
            <a:endParaRPr lang="en-US" sz="1000" dirty="0"/>
          </a:p>
          <a:p>
            <a:pPr algn="ctr" indent="0" marL="0">
              <a:buNone/>
            </a:pP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Build and test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14 tests passing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v8 deployed</a:t>
            </a:r>
            <a:endParaRPr lang="en-US" sz="1000" dirty="0"/>
          </a:p>
        </p:txBody>
      </p:sp>
      <p:sp>
        <p:nvSpPr>
          <p:cNvPr id="6" name="Shape 4"/>
          <p:cNvSpPr/>
          <p:nvPr/>
        </p:nvSpPr>
        <p:spPr>
          <a:xfrm>
            <a:off x="2286000" y="2240280"/>
            <a:ext cx="274320" cy="0"/>
          </a:xfrm>
          <a:prstGeom prst="line">
            <a:avLst/>
          </a:prstGeom>
          <a:noFill/>
          <a:ln w="25400">
            <a:solidFill>
              <a:srgbClr val="02C39A"/>
            </a:solidFill>
            <a:prstDash val="solid"/>
          </a:ln>
        </p:spPr>
      </p:sp>
      <p:sp>
        <p:nvSpPr>
          <p:cNvPr id="7" name="Shape 5"/>
          <p:cNvSpPr/>
          <p:nvPr/>
        </p:nvSpPr>
        <p:spPr>
          <a:xfrm>
            <a:off x="2560320" y="960120"/>
            <a:ext cx="1828800" cy="2560320"/>
          </a:xfrm>
          <a:prstGeom prst="roundRect">
            <a:avLst>
              <a:gd name="adj" fmla="val 5000"/>
            </a:avLst>
          </a:prstGeom>
          <a:solidFill>
            <a:srgbClr val="1C7293"/>
          </a:solidFill>
          <a:ln/>
          <a:effectLst>
            <a:outerShdw sx="100000" sy="100000" kx="0" ky="0" algn="bl" rotWithShape="0" blurRad="101600" dist="25400" dir="2700000">
              <a:srgbClr val="000000">
                <a:alpha val="10000"/>
              </a:srgbClr>
            </a:outerShdw>
          </a:effectLst>
        </p:spPr>
      </p:sp>
      <p:sp>
        <p:nvSpPr>
          <p:cNvPr id="8" name="Text 6"/>
          <p:cNvSpPr/>
          <p:nvPr/>
        </p:nvSpPr>
        <p:spPr>
          <a:xfrm>
            <a:off x="2606040" y="1005840"/>
            <a:ext cx="1737360" cy="2468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2</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Weeks 5-8</a:t>
            </a:r>
            <a:endParaRPr lang="en-US" sz="1000" dirty="0"/>
          </a:p>
          <a:p>
            <a:pPr algn="ctr" indent="0" marL="0">
              <a:buNone/>
            </a:pP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Internal pilot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2 PMs on live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project data</a:t>
            </a:r>
            <a:endParaRPr lang="en-US" sz="1000" dirty="0"/>
          </a:p>
        </p:txBody>
      </p:sp>
      <p:sp>
        <p:nvSpPr>
          <p:cNvPr id="9" name="Shape 7"/>
          <p:cNvSpPr/>
          <p:nvPr/>
        </p:nvSpPr>
        <p:spPr>
          <a:xfrm>
            <a:off x="4389120" y="2240280"/>
            <a:ext cx="274320" cy="0"/>
          </a:xfrm>
          <a:prstGeom prst="line">
            <a:avLst/>
          </a:prstGeom>
          <a:noFill/>
          <a:ln w="25400">
            <a:solidFill>
              <a:srgbClr val="02C39A"/>
            </a:solidFill>
            <a:prstDash val="solid"/>
          </a:ln>
        </p:spPr>
      </p:sp>
      <p:sp>
        <p:nvSpPr>
          <p:cNvPr id="10" name="Shape 8"/>
          <p:cNvSpPr/>
          <p:nvPr/>
        </p:nvSpPr>
        <p:spPr>
          <a:xfrm>
            <a:off x="4663440" y="960120"/>
            <a:ext cx="1828800" cy="2560320"/>
          </a:xfrm>
          <a:prstGeom prst="roundRect">
            <a:avLst>
              <a:gd name="adj" fmla="val 5000"/>
            </a:avLst>
          </a:prstGeom>
          <a:solidFill>
            <a:srgbClr val="065A82"/>
          </a:solidFill>
          <a:ln/>
          <a:effectLst>
            <a:outerShdw sx="100000" sy="100000" kx="0" ky="0" algn="bl" rotWithShape="0" blurRad="101600" dist="25400" dir="2700000">
              <a:srgbClr val="000000">
                <a:alpha val="10000"/>
              </a:srgbClr>
            </a:outerShdw>
          </a:effectLst>
        </p:spPr>
      </p:sp>
      <p:sp>
        <p:nvSpPr>
          <p:cNvPr id="11" name="Text 9"/>
          <p:cNvSpPr/>
          <p:nvPr/>
        </p:nvSpPr>
        <p:spPr>
          <a:xfrm>
            <a:off x="4709160" y="1005840"/>
            <a:ext cx="1737360" cy="2468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3</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Weeks 9-16</a:t>
            </a:r>
            <a:endParaRPr lang="en-US" sz="1000" dirty="0"/>
          </a:p>
          <a:p>
            <a:pPr algn="ctr" indent="0" marL="0">
              <a:buNone/>
            </a:pP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Team rollout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5 PMs onboarded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user guide live</a:t>
            </a:r>
            <a:endParaRPr lang="en-US" sz="1000" dirty="0"/>
          </a:p>
        </p:txBody>
      </p:sp>
      <p:sp>
        <p:nvSpPr>
          <p:cNvPr id="12" name="Shape 10"/>
          <p:cNvSpPr/>
          <p:nvPr/>
        </p:nvSpPr>
        <p:spPr>
          <a:xfrm>
            <a:off x="6492240" y="2240280"/>
            <a:ext cx="274320" cy="0"/>
          </a:xfrm>
          <a:prstGeom prst="line">
            <a:avLst/>
          </a:prstGeom>
          <a:noFill/>
          <a:ln w="25400">
            <a:solidFill>
              <a:srgbClr val="02C39A"/>
            </a:solidFill>
            <a:prstDash val="solid"/>
          </a:ln>
        </p:spPr>
      </p:sp>
      <p:sp>
        <p:nvSpPr>
          <p:cNvPr id="13" name="Shape 11"/>
          <p:cNvSpPr/>
          <p:nvPr/>
        </p:nvSpPr>
        <p:spPr>
          <a:xfrm>
            <a:off x="6766560" y="960120"/>
            <a:ext cx="1828800" cy="2560320"/>
          </a:xfrm>
          <a:prstGeom prst="roundRect">
            <a:avLst>
              <a:gd name="adj" fmla="val 5000"/>
            </a:avLst>
          </a:prstGeom>
          <a:solidFill>
            <a:srgbClr val="1E2761"/>
          </a:solidFill>
          <a:ln/>
          <a:effectLst>
            <a:outerShdw sx="100000" sy="100000" kx="0" ky="0" algn="bl" rotWithShape="0" blurRad="101600" dist="25400" dir="2700000">
              <a:srgbClr val="000000">
                <a:alpha val="10000"/>
              </a:srgbClr>
            </a:outerShdw>
          </a:effectLst>
        </p:spPr>
      </p:sp>
      <p:sp>
        <p:nvSpPr>
          <p:cNvPr id="14" name="Text 12"/>
          <p:cNvSpPr/>
          <p:nvPr/>
        </p:nvSpPr>
        <p:spPr>
          <a:xfrm>
            <a:off x="6812280" y="1005840"/>
            <a:ext cx="1737360" cy="24688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Phase 4</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Weeks 17-24</a:t>
            </a:r>
            <a:endParaRPr lang="en-US" sz="1000" dirty="0"/>
          </a:p>
          <a:p>
            <a:pPr algn="ctr" indent="0" marL="0">
              <a:buNone/>
            </a:pP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RAG, live APIs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multi-project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fine-tuning</a:t>
            </a:r>
            <a:endParaRPr lang="en-US" sz="1000" dirty="0"/>
          </a:p>
        </p:txBody>
      </p:sp>
      <p:sp>
        <p:nvSpPr>
          <p:cNvPr id="15" name="Text 13"/>
          <p:cNvSpPr/>
          <p:nvPr/>
        </p:nvSpPr>
        <p:spPr>
          <a:xfrm>
            <a:off x="457200" y="3749040"/>
            <a:ext cx="8229600" cy="320040"/>
          </a:xfrm>
          <a:prstGeom prst="rect">
            <a:avLst/>
          </a:prstGeom>
          <a:noFill/>
          <a:ln/>
        </p:spPr>
        <p:txBody>
          <a:bodyPr wrap="square" rtlCol="0" anchor="ctr"/>
          <a:lstStyle/>
          <a:p>
            <a:pPr indent="0" marL="0">
              <a:buNone/>
            </a:pPr>
            <a:r>
              <a:rPr lang="en-US" sz="1300" b="1" dirty="0">
                <a:solidFill>
                  <a:srgbClr val="065A82"/>
                </a:solidFill>
                <a:latin typeface="Calibri" pitchFamily="34" charset="0"/>
                <a:ea typeface="Calibri" pitchFamily="34" charset="-122"/>
                <a:cs typeface="Calibri" pitchFamily="34" charset="-120"/>
              </a:rPr>
              <a:t>Immediate priorities before Phase 2:</a:t>
            </a:r>
            <a:endParaRPr lang="en-US" sz="1300" dirty="0"/>
          </a:p>
        </p:txBody>
      </p:sp>
      <p:sp>
        <p:nvSpPr>
          <p:cNvPr id="16" name="Text 14"/>
          <p:cNvSpPr/>
          <p:nvPr/>
        </p:nvSpPr>
        <p:spPr>
          <a:xfrm>
            <a:off x="457200" y="4096512"/>
            <a:ext cx="8229600" cy="822960"/>
          </a:xfrm>
          <a:prstGeom prst="rect">
            <a:avLst/>
          </a:prstGeom>
          <a:noFill/>
          <a:ln/>
        </p:spPr>
        <p:txBody>
          <a:bodyPr wrap="square"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Replace hardcoded Langfuse credentials with environment variables on self-hosted n8n</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Sprint auto-detection so model identifies sprint from context, not explicit sprint number</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RAG implementation to reduce input tokens from 15,000 to 4,000 to 5,000 per query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731520" y="1371600"/>
            <a:ext cx="7680960" cy="146304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Mira is Live.</a:t>
            </a:r>
            <a:endParaRPr lang="en-US" sz="4000" dirty="0"/>
          </a:p>
        </p:txBody>
      </p:sp>
      <p:sp>
        <p:nvSpPr>
          <p:cNvPr id="3" name="Text 1"/>
          <p:cNvSpPr/>
          <p:nvPr/>
        </p:nvSpPr>
        <p:spPr>
          <a:xfrm>
            <a:off x="731520" y="3017520"/>
            <a:ext cx="7680960" cy="73152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From a PM's idea to a working product in 8 versions.</a:t>
            </a:r>
            <a:endParaRPr lang="en-US" sz="1800" dirty="0"/>
          </a:p>
          <a:p>
            <a:pPr algn="l" indent="0" marL="0">
              <a:buNone/>
            </a:pPr>
            <a:r>
              <a:rPr lang="en-US" sz="1800" dirty="0">
                <a:solidFill>
                  <a:srgbClr val="CADCFC"/>
                </a:solidFill>
                <a:latin typeface="Calibri" pitchFamily="34" charset="0"/>
                <a:ea typeface="Calibri" pitchFamily="34" charset="-122"/>
                <a:cs typeface="Calibri" pitchFamily="34" charset="-120"/>
              </a:rPr>
              <a:t>The honest path from architectural intent to implementation reality.</a:t>
            </a:r>
            <a:endParaRPr lang="en-US" sz="1800" dirty="0"/>
          </a:p>
        </p:txBody>
      </p:sp>
      <p:sp>
        <p:nvSpPr>
          <p:cNvPr id="4" name="Shape 2"/>
          <p:cNvSpPr/>
          <p:nvPr/>
        </p:nvSpPr>
        <p:spPr>
          <a:xfrm>
            <a:off x="0" y="4663440"/>
            <a:ext cx="9144000" cy="480060"/>
          </a:xfrm>
          <a:prstGeom prst="rect">
            <a:avLst/>
          </a:prstGeom>
          <a:solidFill>
            <a:srgbClr val="02C39A"/>
          </a:solidFill>
          <a:ln/>
        </p:spPr>
      </p:sp>
      <p:sp>
        <p:nvSpPr>
          <p:cNvPr id="5" name="Text 3"/>
          <p:cNvSpPr/>
          <p:nvPr/>
        </p:nvSpPr>
        <p:spPr>
          <a:xfrm>
            <a:off x="274320" y="4681728"/>
            <a:ext cx="8595360" cy="438912"/>
          </a:xfrm>
          <a:prstGeom prst="rect">
            <a:avLst/>
          </a:prstGeom>
          <a:noFill/>
          <a:ln/>
        </p:spPr>
        <p:txBody>
          <a:bodyPr wrap="square" lIns="0" tIns="0" rIns="0" bIns="0" rtlCol="0" anchor="ctr"/>
          <a:lstStyle/>
          <a:p>
            <a:pPr algn="l" indent="0" marL="0">
              <a:buNone/>
            </a:pPr>
            <a:r>
              <a:rPr lang="en-US" sz="1200" dirty="0">
                <a:solidFill>
                  <a:srgbClr val="065A82"/>
                </a:solidFill>
                <a:latin typeface="Calibri" pitchFamily="34" charset="0"/>
                <a:ea typeface="Calibri" pitchFamily="34" charset="-122"/>
                <a:cs typeface="Calibri" pitchFamily="34" charset="-120"/>
              </a:rPr>
              <a:t>Nexora Pvt. Ltd.  |  Applied Agentic AI for PMs/TPMs  |  June 2026</a:t>
            </a:r>
            <a:endParaRPr lang="en-US" sz="1200" dirty="0"/>
          </a:p>
        </p:txBody>
      </p:sp>
      <p:sp>
        <p:nvSpPr>
          <p:cNvPr id="6" name="Text 4"/>
          <p:cNvSpPr/>
          <p:nvPr/>
        </p:nvSpPr>
        <p:spPr>
          <a:xfrm>
            <a:off x="731520" y="3931920"/>
            <a:ext cx="7680960" cy="548640"/>
          </a:xfrm>
          <a:prstGeom prst="rect">
            <a:avLst/>
          </a:prstGeom>
          <a:noFill/>
          <a:ln/>
        </p:spPr>
        <p:txBody>
          <a:bodyPr wrap="square"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14 tests passing  </a:t>
            </a:r>
            <a:pPr algn="l" indent="0" marL="0">
              <a:buNone/>
            </a:pPr>
            <a:r>
              <a:rPr lang="en-US" sz="1300" dirty="0">
                <a:solidFill>
                  <a:srgbClr val="02C39A"/>
                </a:solidFill>
                <a:latin typeface="Calibri" pitchFamily="34" charset="0"/>
                <a:ea typeface="Calibri" pitchFamily="34" charset="-122"/>
                <a:cs typeface="Calibri" pitchFamily="34" charset="-120"/>
              </a:rPr>
              <a:t>|</a:t>
            </a:r>
            <a:pPr algn="l" indent="0" marL="0">
              <a:buNone/>
            </a:pPr>
            <a:r>
              <a:rPr lang="en-US" sz="1300" dirty="0">
                <a:solidFill>
                  <a:srgbClr val="CADCFC"/>
                </a:solidFill>
                <a:latin typeface="Calibri" pitchFamily="34" charset="0"/>
                <a:ea typeface="Calibri" pitchFamily="34" charset="-122"/>
                <a:cs typeface="Calibri" pitchFamily="34" charset="-120"/>
              </a:rPr>
              <a:t>  Zero hallucinations  </a:t>
            </a:r>
            <a:pPr algn="l" indent="0" marL="0">
              <a:buNone/>
            </a:pPr>
            <a:r>
              <a:rPr lang="en-US" sz="1300" dirty="0">
                <a:solidFill>
                  <a:srgbClr val="02C39A"/>
                </a:solidFill>
                <a:latin typeface="Calibri" pitchFamily="34" charset="0"/>
                <a:ea typeface="Calibri" pitchFamily="34" charset="-122"/>
                <a:cs typeface="Calibri" pitchFamily="34" charset="-120"/>
              </a:rPr>
              <a:t>|</a:t>
            </a:r>
            <a:pPr algn="l" indent="0" marL="0">
              <a:buNone/>
            </a:pPr>
            <a:r>
              <a:rPr lang="en-US" sz="1300" dirty="0">
                <a:solidFill>
                  <a:srgbClr val="CADCFC"/>
                </a:solidFill>
                <a:latin typeface="Calibri" pitchFamily="34" charset="0"/>
                <a:ea typeface="Calibri" pitchFamily="34" charset="-122"/>
                <a:cs typeface="Calibri" pitchFamily="34" charset="-120"/>
              </a:rPr>
              <a:t>  Combined queries working  </a:t>
            </a:r>
            <a:pPr algn="l" indent="0" marL="0">
              <a:buNone/>
            </a:pPr>
            <a:r>
              <a:rPr lang="en-US" sz="1300" dirty="0">
                <a:solidFill>
                  <a:srgbClr val="02C39A"/>
                </a:solidFill>
                <a:latin typeface="Calibri" pitchFamily="34" charset="0"/>
                <a:ea typeface="Calibri" pitchFamily="34" charset="-122"/>
                <a:cs typeface="Calibri" pitchFamily="34" charset="-120"/>
              </a:rPr>
              <a:t>|</a:t>
            </a:r>
            <a:pPr algn="l" indent="0" marL="0">
              <a:buNone/>
            </a:pPr>
            <a:r>
              <a:rPr lang="en-US" sz="1300" dirty="0">
                <a:solidFill>
                  <a:srgbClr val="CADCFC"/>
                </a:solidFill>
                <a:latin typeface="Calibri" pitchFamily="34" charset="0"/>
                <a:ea typeface="Calibri" pitchFamily="34" charset="-122"/>
                <a:cs typeface="Calibri" pitchFamily="34" charset="-120"/>
              </a:rPr>
              <a:t>  Telegram live  </a:t>
            </a:r>
            <a:pPr algn="l" indent="0" marL="0">
              <a:buNone/>
            </a:pPr>
            <a:r>
              <a:rPr lang="en-US" sz="1300" dirty="0">
                <a:solidFill>
                  <a:srgbClr val="02C39A"/>
                </a:solidFill>
                <a:latin typeface="Calibri" pitchFamily="34" charset="0"/>
                <a:ea typeface="Calibri" pitchFamily="34" charset="-122"/>
                <a:cs typeface="Calibri" pitchFamily="34" charset="-120"/>
              </a:rPr>
              <a:t>|</a:t>
            </a:r>
            <a:pPr algn="l" indent="0" marL="0">
              <a:buNone/>
            </a:pPr>
            <a:r>
              <a:rPr lang="en-US" sz="1300" dirty="0">
                <a:solidFill>
                  <a:srgbClr val="CADCFC"/>
                </a:solidFill>
                <a:latin typeface="Calibri" pitchFamily="34" charset="0"/>
                <a:ea typeface="Calibri" pitchFamily="34" charset="-122"/>
                <a:cs typeface="Calibri" pitchFamily="34" charset="-120"/>
              </a:rPr>
              <a:t>  Gmail HTML formatted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 AI-Powered Project Intelligence Assistant</dc:title>
  <dc:subject>PptxGenJS Presentation</dc:subject>
  <dc:creator>PptxGenJS</dc:creator>
  <cp:lastModifiedBy>PptxGenJS</cp:lastModifiedBy>
  <cp:revision>1</cp:revision>
  <dcterms:created xsi:type="dcterms:W3CDTF">2026-06-11T12:57:05Z</dcterms:created>
  <dcterms:modified xsi:type="dcterms:W3CDTF">2026-06-11T12:57:05Z</dcterms:modified>
</cp:coreProperties>
</file>